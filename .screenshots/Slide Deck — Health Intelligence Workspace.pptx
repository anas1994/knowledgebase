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frames the Hospital at Home initiative and what this Statement of Work covers. We emphasize that the engagement delivers a full platform, not a single app, and that execution is phased according to the client’s approved milestone plan. The goal is to bring hospital-grade care, governance, and data integrity into the home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the Hospital at Home platform is being implemented. It highlights both patient benefits, like comfort and access, and clinical benefits, including structured workflows and decision support. We also connect the implementation directly to measurable priorities such as safety, compliance, and operational KPIs.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summarize the foundational features delivered by the core platform. These are the capabilities that underpin all subsequent enhancements, including robust patient management, structured clinical workflows, a nurse hotline, and comprehensive clinical documentation. Together, they provide the essential operating layer for Hospital at Home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focuses on how different users experience the platform. Clinicians get specialized nurse and physician modules tailored to their workflows, while patients use a mobile app for vitals, surveys, and communication. Remote monitoring screens, care team tools, and fleet and medication management complete the operational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core, the platform delivers advanced capabilities that enhance quality and coordination. Vital customization and second-opinion workflows support safer, more nuanced care. Analytics, educational content, and deep integrations with external systems ensure visibility, continuous improvement, and seamless clinician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implementation is structured into clearly defined milestones to manage risk and prioritize value. Each milestone has specific segments, deliverables, acceptance criteria, and associated commercial terms. After feature delivery, we run end-to-end UAT, validate production readiness, go live, and then support stabilization through HyperCare.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clarifies what is and is not covered by the engagement. The scope is strictly governed by the milestone plan, ensuring focus and predictable delivery. Any additional functionality, infrastructure work, or longer-term support must be handled through formal change control or separate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Successful delivery depends on several client-side prerequisites, including environments, clinical templates, and third-party accounts. In parallel, the platform enforces a strong security and access model with distinct roles and full auditability. Monitoring dashboards provide operational oversight and help ensure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outline how the project will be run and controlled. Clear governance roles and a RACI matrix avoid ambiguity, while regular ceremonies maintain alignment. Milestones are accepted only after structured demonstrations, data validations, and live scenario simulations, ensuring quality and traceability.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HEMED_SLIDE">
    <p:bg>
      <p:bgPr>
        <a:solidFill>
          <a:srgbClr val="F5F3FF"/>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4F46E5"/>
          </a:solidFill>
          <a:ln/>
        </p:spPr>
      </p:sp>
      <p:sp>
        <p:nvSpPr>
          <p:cNvPr id="3" name="Shape 1"/>
          <p:cNvSpPr/>
          <p:nvPr/>
        </p:nvSpPr>
        <p:spPr>
          <a:xfrm>
            <a:off x="0" y="4937760"/>
            <a:ext cx="9144000" cy="91440"/>
          </a:xfrm>
          <a:prstGeom prst="rect">
            <a:avLst/>
          </a:prstGeom>
          <a:solidFill>
            <a:srgbClr val="818CF8"/>
          </a:solidFill>
          <a:ln/>
        </p:spPr>
      </p:sp>
      <p:sp>
        <p:nvSpPr>
          <p:cNvPr id="4" name="Shape 2"/>
          <p:cNvSpPr/>
          <p:nvPr/>
        </p:nvSpPr>
        <p:spPr>
          <a:xfrm>
            <a:off x="8412480" y="0"/>
            <a:ext cx="731520" cy="731520"/>
          </a:xfrm>
          <a:prstGeom prst="rect">
            <a:avLst/>
          </a:prstGeom>
          <a:solidFill>
            <a:srgbClr val="6366F1">
              <a:alpha val="30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312E81"/>
        </a:solidFill>
      </p:bgPr>
    </p:bg>
    <p:spTree>
      <p:nvGrpSpPr>
        <p:cNvPr id="1" name=""/>
        <p:cNvGrpSpPr/>
        <p:nvPr/>
      </p:nvGrpSpPr>
      <p:grpSpPr>
        <a:xfrm>
          <a:off x="0" y="0"/>
          <a:ext cx="0" cy="0"/>
          <a:chOff x="0" y="0"/>
          <a:chExt cx="0" cy="0"/>
        </a:xfrm>
      </p:grpSpPr>
      <p:sp>
        <p:nvSpPr>
          <p:cNvPr id="2" name="Shape 0"/>
          <p:cNvSpPr/>
          <p:nvPr/>
        </p:nvSpPr>
        <p:spPr>
          <a:xfrm>
            <a:off x="0" y="4572000"/>
            <a:ext cx="9144000" cy="457200"/>
          </a:xfrm>
          <a:prstGeom prst="rect">
            <a:avLst/>
          </a:prstGeom>
          <a:solidFill>
            <a:srgbClr val="4F46E5"/>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1645920"/>
            <a:ext cx="8229600" cy="109728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Hospital at Home Platform</a:t>
            </a:r>
            <a:endParaRPr lang="en-US" sz="4400" dirty="0"/>
          </a:p>
        </p:txBody>
      </p:sp>
      <p:sp>
        <p:nvSpPr>
          <p:cNvPr id="3" name="Text 1"/>
          <p:cNvSpPr/>
          <p:nvPr/>
        </p:nvSpPr>
        <p:spPr>
          <a:xfrm>
            <a:off x="457200" y="2926080"/>
            <a:ext cx="8229600" cy="548640"/>
          </a:xfrm>
          <a:prstGeom prst="rect">
            <a:avLst/>
          </a:prstGeom>
          <a:noFill/>
          <a:ln/>
        </p:spPr>
        <p:txBody>
          <a:bodyPr wrap="square" rtlCol="0" anchor="ctr"/>
          <a:lstStyle/>
          <a:p>
            <a:pPr algn="ctr" indent="0" marL="0">
              <a:buNone/>
            </a:pPr>
            <a:r>
              <a:rPr lang="en-US" sz="2000" dirty="0">
                <a:solidFill>
                  <a:srgbClr val="E0E7FF"/>
                </a:solidFill>
                <a:latin typeface="Arial" pitchFamily="34" charset="0"/>
                <a:ea typeface="Arial" pitchFamily="34" charset="-122"/>
                <a:cs typeface="Arial" pitchFamily="34" charset="-120"/>
              </a:rPr>
              <a:t>Statement of Work, Scope, and Delivery Overview</a:t>
            </a:r>
            <a:endParaRPr lang="en-US" sz="2000" dirty="0"/>
          </a:p>
        </p:txBody>
      </p:sp>
      <p:sp>
        <p:nvSpPr>
          <p:cNvPr id="4" name="Shape 2"/>
          <p:cNvSpPr/>
          <p:nvPr/>
        </p:nvSpPr>
        <p:spPr>
          <a:xfrm>
            <a:off x="3200400" y="2743200"/>
            <a:ext cx="2743200" cy="45720"/>
          </a:xfrm>
          <a:prstGeom prst="rect">
            <a:avLst/>
          </a:prstGeom>
          <a:solidFill>
            <a:srgbClr val="818CF8"/>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274320"/>
            <a:ext cx="137160" cy="731520"/>
          </a:xfrm>
          <a:prstGeom prst="rect">
            <a:avLst/>
          </a:prstGeom>
          <a:solidFill>
            <a:srgbClr val="4F46E5"/>
          </a:solidFill>
          <a:ln/>
        </p:spPr>
      </p:sp>
      <p:sp>
        <p:nvSpPr>
          <p:cNvPr id="3" name="Text 1"/>
          <p:cNvSpPr/>
          <p:nvPr/>
        </p:nvSpPr>
        <p:spPr>
          <a:xfrm>
            <a:off x="365760" y="320040"/>
            <a:ext cx="8229600" cy="640080"/>
          </a:xfrm>
          <a:prstGeom prst="rect">
            <a:avLst/>
          </a:prstGeom>
          <a:noFill/>
          <a:ln/>
        </p:spPr>
        <p:txBody>
          <a:bodyPr wrap="square" rtlCol="0" anchor="ctr"/>
          <a:lstStyle/>
          <a:p>
            <a:pPr indent="0" marL="0">
              <a:buNone/>
            </a:pPr>
            <a:r>
              <a:rPr lang="en-US" sz="2800" b="1" dirty="0">
                <a:solidFill>
                  <a:srgbClr val="312E81"/>
                </a:solidFill>
                <a:latin typeface="Arial" pitchFamily="34" charset="0"/>
                <a:ea typeface="Arial" pitchFamily="34" charset="-122"/>
                <a:cs typeface="Arial" pitchFamily="34" charset="-120"/>
              </a:rPr>
              <a:t>Business and Clinical Rationale</a:t>
            </a:r>
            <a:endParaRPr lang="en-US" sz="2800" dirty="0"/>
          </a:p>
        </p:txBody>
      </p:sp>
      <p:sp>
        <p:nvSpPr>
          <p:cNvPr id="4" name="Shape 2"/>
          <p:cNvSpPr/>
          <p:nvPr/>
        </p:nvSpPr>
        <p:spPr>
          <a:xfrm>
            <a:off x="4754880" y="1188720"/>
            <a:ext cx="4023360" cy="3200400"/>
          </a:xfrm>
          <a:prstGeom prst="roundRect">
            <a:avLst/>
          </a:prstGeom>
          <a:solidFill>
            <a:srgbClr val="E0E7FF"/>
          </a:solidFill>
          <a:ln w="25400">
            <a:solidFill>
              <a:srgbClr val="6366F1"/>
            </a:solidFill>
            <a:prstDash val="solid"/>
          </a:ln>
        </p:spPr>
      </p:sp>
      <p:sp>
        <p:nvSpPr>
          <p:cNvPr id="5" name="Shape 3"/>
          <p:cNvSpPr/>
          <p:nvPr/>
        </p:nvSpPr>
        <p:spPr>
          <a:xfrm>
            <a:off x="6400800" y="2194560"/>
            <a:ext cx="731520" cy="731520"/>
          </a:xfrm>
          <a:prstGeom prst="ellipse">
            <a:avLst/>
          </a:prstGeom>
          <a:solidFill>
            <a:srgbClr val="4F46E5">
              <a:alpha val="70000"/>
            </a:srgbClr>
          </a:solidFill>
          <a:ln/>
        </p:spPr>
      </p:sp>
      <p:sp>
        <p:nvSpPr>
          <p:cNvPr id="6" name="Shape 4"/>
          <p:cNvSpPr/>
          <p:nvPr/>
        </p:nvSpPr>
        <p:spPr>
          <a:xfrm>
            <a:off x="365760" y="1188720"/>
            <a:ext cx="4023360" cy="3200400"/>
          </a:xfrm>
          <a:prstGeom prst="roundRect">
            <a:avLst/>
          </a:prstGeom>
          <a:solidFill>
            <a:srgbClr val="FFFFFF"/>
          </a:solidFill>
          <a:ln/>
          <a:effectLst>
            <a:outerShdw sx="100000" sy="100000" kx="0" ky="0" algn="bl" rotWithShape="0" blurRad="101600" dist="25400" dir="2700000">
              <a:srgbClr val="000000">
                <a:alpha val="15000"/>
              </a:srgbClr>
            </a:outerShdw>
          </a:effectLst>
        </p:spPr>
      </p:sp>
      <p:sp>
        <p:nvSpPr>
          <p:cNvPr id="7" name="Text 5"/>
          <p:cNvSpPr/>
          <p:nvPr/>
        </p:nvSpPr>
        <p:spPr>
          <a:xfrm>
            <a:off x="548640" y="1371600"/>
            <a:ext cx="3657600" cy="2743200"/>
          </a:xfrm>
          <a:prstGeom prst="rect">
            <a:avLst/>
          </a:prstGeom>
          <a:noFill/>
          <a:ln/>
        </p:spPr>
        <p:txBody>
          <a:bodyPr wrap="square" rtlCol="0" anchor="t"/>
          <a:lstStyle/>
          <a:p>
            <a:pPr indent="0" marL="0">
              <a:spcAft>
                <a:spcPts val="1400"/>
              </a:spcAft>
              <a:buNone/>
            </a:pPr>
            <a:r>
              <a:rPr lang="en-US" sz="1500" dirty="0">
                <a:solidFill>
                  <a:srgbClr val="374151"/>
                </a:solidFill>
                <a:latin typeface="Arial" pitchFamily="34" charset="0"/>
                <a:ea typeface="Arial" pitchFamily="34" charset="-122"/>
                <a:cs typeface="Arial" pitchFamily="34" charset="-120"/>
              </a:rPr>
              <a:t>● Improve access and comfort through home-based hospital care
</a:t>
            </a:r>
            <a:pPr indent="0" marL="0">
              <a:spcAft>
                <a:spcPts val="1400"/>
              </a:spcAft>
              <a:buNone/>
            </a:pPr>
            <a:r>
              <a:rPr lang="en-US" sz="1500" dirty="0">
                <a:solidFill>
                  <a:srgbClr val="374151"/>
                </a:solidFill>
                <a:latin typeface="Arial" pitchFamily="34" charset="0"/>
                <a:ea typeface="Arial" pitchFamily="34" charset="-122"/>
                <a:cs typeface="Arial" pitchFamily="34" charset="-120"/>
              </a:rPr>
              <a:t>● Digitize clinical workflows from triage to discharge
</a:t>
            </a:r>
            <a:pPr indent="0" marL="0">
              <a:spcAft>
                <a:spcPts val="1400"/>
              </a:spcAft>
              <a:buNone/>
            </a:pPr>
            <a:r>
              <a:rPr lang="en-US" sz="1500" dirty="0">
                <a:solidFill>
                  <a:srgbClr val="374151"/>
                </a:solidFill>
                <a:latin typeface="Arial" pitchFamily="34" charset="0"/>
                <a:ea typeface="Arial" pitchFamily="34" charset="-122"/>
                <a:cs typeface="Arial" pitchFamily="34" charset="-120"/>
              </a:rPr>
              <a:t>● Support clinicians with structured, guided decision pathways
</a:t>
            </a:r>
            <a:pPr indent="0" marL="0">
              <a:spcAft>
                <a:spcPts val="1400"/>
              </a:spcAft>
              <a:buNone/>
            </a:pPr>
            <a:r>
              <a:rPr lang="en-US" sz="1500" dirty="0">
                <a:solidFill>
                  <a:srgbClr val="374151"/>
                </a:solidFill>
                <a:latin typeface="Arial" pitchFamily="34" charset="0"/>
                <a:ea typeface="Arial" pitchFamily="34" charset="-122"/>
                <a:cs typeface="Arial" pitchFamily="34" charset="-120"/>
              </a:rPr>
              <a:t>● Enable safe, compliant remote monitoring and communication
</a:t>
            </a:r>
            <a:pPr indent="0" marL="0">
              <a:spcAft>
                <a:spcPts val="1400"/>
              </a:spcAft>
              <a:buNone/>
            </a:pPr>
            <a:r>
              <a:rPr lang="en-US" sz="1500" dirty="0">
                <a:solidFill>
                  <a:srgbClr val="374151"/>
                </a:solidFill>
                <a:latin typeface="Arial" pitchFamily="34" charset="0"/>
                <a:ea typeface="Arial" pitchFamily="34" charset="-122"/>
                <a:cs typeface="Arial" pitchFamily="34" charset="-120"/>
              </a:rPr>
              <a:t>● Align capabilities to priority use cases and KPIs
</a:t>
            </a:r>
            <a:endParaRPr lang="en-US" sz="1500" dirty="0"/>
          </a:p>
        </p:txBody>
      </p:sp>
      <p:sp>
        <p:nvSpPr>
          <p:cNvPr id="9" name="Text 6"/>
          <p:cNvSpPr/>
          <p:nvPr/>
        </p:nvSpPr>
        <p:spPr>
          <a:xfrm>
            <a:off x="8503920" y="4709160"/>
            <a:ext cx="365760" cy="228600"/>
          </a:xfrm>
          <a:prstGeom prst="rect">
            <a:avLst/>
          </a:prstGeom>
          <a:noFill/>
          <a:ln/>
        </p:spPr>
        <p:txBody>
          <a:bodyPr wrap="square" rtlCol="0" anchor="ctr"/>
          <a:lstStyle/>
          <a:p>
            <a:pPr algn="ctr" indent="0" marL="0">
              <a:buNone/>
            </a:pPr>
            <a:r>
              <a:rPr lang="en-US" sz="1000" dirty="0">
                <a:solidFill>
                  <a:srgbClr val="6366F1"/>
                </a:solidFill>
                <a:latin typeface="Arial" pitchFamily="34" charset="0"/>
                <a:ea typeface="Arial" pitchFamily="34" charset="-122"/>
                <a:cs typeface="Arial"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274320"/>
            <a:ext cx="137160" cy="731520"/>
          </a:xfrm>
          <a:prstGeom prst="rect">
            <a:avLst/>
          </a:prstGeom>
          <a:solidFill>
            <a:srgbClr val="4F46E5"/>
          </a:solidFill>
          <a:ln/>
        </p:spPr>
      </p:sp>
      <p:sp>
        <p:nvSpPr>
          <p:cNvPr id="3" name="Text 1"/>
          <p:cNvSpPr/>
          <p:nvPr/>
        </p:nvSpPr>
        <p:spPr>
          <a:xfrm>
            <a:off x="365760" y="320040"/>
            <a:ext cx="7315200" cy="640080"/>
          </a:xfrm>
          <a:prstGeom prst="rect">
            <a:avLst/>
          </a:prstGeom>
          <a:noFill/>
          <a:ln/>
        </p:spPr>
        <p:txBody>
          <a:bodyPr wrap="square" rtlCol="0" anchor="ctr"/>
          <a:lstStyle/>
          <a:p>
            <a:pPr indent="0" marL="0">
              <a:buNone/>
            </a:pPr>
            <a:r>
              <a:rPr lang="en-US" sz="2800" b="1" dirty="0">
                <a:solidFill>
                  <a:srgbClr val="312E81"/>
                </a:solidFill>
                <a:latin typeface="Arial" pitchFamily="34" charset="0"/>
                <a:ea typeface="Arial" pitchFamily="34" charset="-122"/>
                <a:cs typeface="Arial" pitchFamily="34" charset="-120"/>
              </a:rPr>
              <a:t>Core Platform Capabilities</a:t>
            </a:r>
            <a:endParaRPr lang="en-US" sz="2800" dirty="0"/>
          </a:p>
        </p:txBody>
      </p:sp>
      <p:sp>
        <p:nvSpPr>
          <p:cNvPr id="4" name="Shape 2"/>
          <p:cNvSpPr/>
          <p:nvPr/>
        </p:nvSpPr>
        <p:spPr>
          <a:xfrm>
            <a:off x="8046720" y="228600"/>
            <a:ext cx="640080" cy="640080"/>
          </a:xfrm>
          <a:prstGeom prst="ellipse">
            <a:avLst/>
          </a:prstGeom>
          <a:solidFill>
            <a:srgbClr val="6366F1">
              <a:alpha val="50000"/>
            </a:srgbClr>
          </a:solidFill>
          <a:ln/>
        </p:spPr>
      </p:sp>
      <p:sp>
        <p:nvSpPr>
          <p:cNvPr id="5" name="Shape 3"/>
          <p:cNvSpPr/>
          <p:nvPr/>
        </p:nvSpPr>
        <p:spPr>
          <a:xfrm>
            <a:off x="274320" y="1097280"/>
            <a:ext cx="8595360" cy="3291840"/>
          </a:xfrm>
          <a:prstGeom prst="roundRect">
            <a:avLst/>
          </a:prstGeom>
          <a:solidFill>
            <a:srgbClr val="FFFFFF"/>
          </a:solidFill>
          <a:ln/>
          <a:effectLst>
            <a:outerShdw sx="100000" sy="100000" kx="0" ky="0" algn="bl" rotWithShape="0" blurRad="127000" dist="38100" dir="2700000">
              <a:srgbClr val="000000">
                <a:alpha val="12000"/>
              </a:srgbClr>
            </a:outerShdw>
          </a:effectLst>
        </p:spPr>
      </p:sp>
      <p:sp>
        <p:nvSpPr>
          <p:cNvPr id="6" name="Text 4"/>
          <p:cNvSpPr/>
          <p:nvPr/>
        </p:nvSpPr>
        <p:spPr>
          <a:xfrm>
            <a:off x="548640" y="1280160"/>
            <a:ext cx="8046720" cy="2926080"/>
          </a:xfrm>
          <a:prstGeom prst="rect">
            <a:avLst/>
          </a:prstGeom>
          <a:noFill/>
          <a:ln/>
        </p:spPr>
        <p:txBody>
          <a:bodyPr wrap="square" rtlCol="0" anchor="t"/>
          <a:lstStyle/>
          <a:p>
            <a:pPr marL="342900" indent="-342900">
              <a:spcAft>
                <a:spcPts val="1600"/>
              </a:spcAft>
              <a:buSzPct val="100000"/>
              <a:buFont typeface="+mj-lt"/>
              <a:buAutoNum type="arabicPeriod" startAt="1"/>
            </a:pPr>
            <a:r>
              <a:rPr lang="en-US" sz="1800" dirty="0">
                <a:solidFill>
                  <a:srgbClr val="374151"/>
                </a:solidFill>
                <a:latin typeface="Arial" pitchFamily="34" charset="0"/>
                <a:ea typeface="Arial" pitchFamily="34" charset="-122"/>
                <a:cs typeface="Arial" pitchFamily="34" charset="-120"/>
              </a:rPr>
              <a:t>Patient management: registration, demographics, consent, notifications
</a:t>
            </a:r>
            <a:endParaRPr lang="en-US" sz="1800" dirty="0"/>
          </a:p>
          <a:p>
            <a:pPr marL="342900" indent="-342900">
              <a:spcAft>
                <a:spcPts val="1600"/>
              </a:spcAft>
              <a:buSzPct val="100000"/>
              <a:buFont typeface="+mj-lt"/>
              <a:buAutoNum type="arabicPeriod" startAt="1"/>
            </a:pPr>
            <a:r>
              <a:rPr lang="en-US" sz="1800" dirty="0">
                <a:solidFill>
                  <a:srgbClr val="374151"/>
                </a:solidFill>
                <a:latin typeface="Arial" pitchFamily="34" charset="0"/>
                <a:ea typeface="Arial" pitchFamily="34" charset="-122"/>
                <a:cs typeface="Arial" pitchFamily="34" charset="-120"/>
              </a:rPr>
              <a:t>Onboarding portal with role-based user access
</a:t>
            </a:r>
            <a:endParaRPr lang="en-US" sz="1800" dirty="0"/>
          </a:p>
          <a:p>
            <a:pPr marL="342900" indent="-342900">
              <a:spcAft>
                <a:spcPts val="1600"/>
              </a:spcAft>
              <a:buSzPct val="100000"/>
              <a:buFont typeface="+mj-lt"/>
              <a:buAutoNum type="arabicPeriod" startAt="1"/>
            </a:pPr>
            <a:r>
              <a:rPr lang="en-US" sz="1800" dirty="0">
                <a:solidFill>
                  <a:srgbClr val="374151"/>
                </a:solidFill>
                <a:latin typeface="Arial" pitchFamily="34" charset="0"/>
                <a:ea typeface="Arial" pitchFamily="34" charset="-122"/>
                <a:cs typeface="Arial" pitchFamily="34" charset="-120"/>
              </a:rPr>
              <a:t>End-to-end workflows: visit, encounter, admission, discharge
</a:t>
            </a:r>
            <a:endParaRPr lang="en-US" sz="1800" dirty="0"/>
          </a:p>
          <a:p>
            <a:pPr marL="342900" indent="-342900">
              <a:spcAft>
                <a:spcPts val="1600"/>
              </a:spcAft>
              <a:buSzPct val="100000"/>
              <a:buFont typeface="+mj-lt"/>
              <a:buAutoNum type="arabicPeriod" startAt="1"/>
            </a:pPr>
            <a:r>
              <a:rPr lang="en-US" sz="1800" dirty="0">
                <a:solidFill>
                  <a:srgbClr val="374151"/>
                </a:solidFill>
                <a:latin typeface="Arial" pitchFamily="34" charset="0"/>
                <a:ea typeface="Arial" pitchFamily="34" charset="-122"/>
                <a:cs typeface="Arial" pitchFamily="34" charset="-120"/>
              </a:rPr>
              <a:t>Nurse hotline with triage, IVR and escalations
</a:t>
            </a:r>
            <a:endParaRPr lang="en-US" sz="1800" dirty="0"/>
          </a:p>
          <a:p>
            <a:pPr marL="342900" indent="-342900">
              <a:spcAft>
                <a:spcPts val="1600"/>
              </a:spcAft>
              <a:buSzPct val="100000"/>
              <a:buFont typeface="+mj-lt"/>
              <a:buAutoNum type="arabicPeriod" startAt="1"/>
            </a:pPr>
            <a:r>
              <a:rPr lang="en-US" sz="1800" dirty="0">
                <a:solidFill>
                  <a:srgbClr val="374151"/>
                </a:solidFill>
                <a:latin typeface="Arial" pitchFamily="34" charset="0"/>
                <a:ea typeface="Arial" pitchFamily="34" charset="-122"/>
                <a:cs typeface="Arial" pitchFamily="34" charset="-120"/>
              </a:rPr>
              <a:t>Clinical data: care plans, progress notes, orders, documents
</a:t>
            </a:r>
            <a:endParaRPr lang="en-US" sz="1800" dirty="0"/>
          </a:p>
        </p:txBody>
      </p:sp>
      <p:sp>
        <p:nvSpPr>
          <p:cNvPr id="7" name="Shape 5"/>
          <p:cNvSpPr/>
          <p:nvPr/>
        </p:nvSpPr>
        <p:spPr>
          <a:xfrm>
            <a:off x="457200" y="4206240"/>
            <a:ext cx="8229600" cy="457200"/>
          </a:xfrm>
          <a:prstGeom prst="roundRect">
            <a:avLst/>
          </a:prstGeom>
          <a:solidFill>
            <a:srgbClr val="E0E7FF"/>
          </a:solidFill>
          <a:ln/>
        </p:spPr>
      </p:sp>
      <p:sp>
        <p:nvSpPr>
          <p:cNvPr id="8" name="Text 6"/>
          <p:cNvSpPr/>
          <p:nvPr/>
        </p:nvSpPr>
        <p:spPr>
          <a:xfrm>
            <a:off x="640080" y="4251960"/>
            <a:ext cx="7863840" cy="365760"/>
          </a:xfrm>
          <a:prstGeom prst="rect">
            <a:avLst/>
          </a:prstGeom>
          <a:noFill/>
          <a:ln/>
        </p:spPr>
        <p:txBody>
          <a:bodyPr wrap="square" rtlCol="0" anchor="ctr"/>
          <a:lstStyle/>
          <a:p>
            <a:pPr indent="0" marL="0">
              <a:buNone/>
            </a:pPr>
            <a:r>
              <a:rPr lang="en-US" sz="1200" b="1" dirty="0">
                <a:solidFill>
                  <a:srgbClr val="312E81"/>
                </a:solidFill>
                <a:latin typeface="Arial" pitchFamily="34" charset="0"/>
                <a:ea typeface="Arial" pitchFamily="34" charset="-122"/>
                <a:cs typeface="Arial" pitchFamily="34" charset="-120"/>
              </a:rPr>
              <a:t>💡 End-to-end clinical workflow digitization</a:t>
            </a:r>
            <a:endParaRPr lang="en-US" sz="1200" dirty="0"/>
          </a:p>
        </p:txBody>
      </p:sp>
      <p:sp>
        <p:nvSpPr>
          <p:cNvPr id="10" name="Text 7"/>
          <p:cNvSpPr/>
          <p:nvPr/>
        </p:nvSpPr>
        <p:spPr>
          <a:xfrm>
            <a:off x="8503920" y="4709160"/>
            <a:ext cx="365760" cy="228600"/>
          </a:xfrm>
          <a:prstGeom prst="rect">
            <a:avLst/>
          </a:prstGeom>
          <a:noFill/>
          <a:ln/>
        </p:spPr>
        <p:txBody>
          <a:bodyPr wrap="square" rtlCol="0" anchor="ctr"/>
          <a:lstStyle/>
          <a:p>
            <a:pPr algn="ctr" indent="0" marL="0">
              <a:buNone/>
            </a:pPr>
            <a:r>
              <a:rPr lang="en-US" sz="1000" dirty="0">
                <a:solidFill>
                  <a:srgbClr val="6366F1"/>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274320"/>
            <a:ext cx="137160" cy="731520"/>
          </a:xfrm>
          <a:prstGeom prst="rect">
            <a:avLst/>
          </a:prstGeom>
          <a:solidFill>
            <a:srgbClr val="4F46E5"/>
          </a:solidFill>
          <a:ln/>
        </p:spPr>
      </p:sp>
      <p:sp>
        <p:nvSpPr>
          <p:cNvPr id="3" name="Text 1"/>
          <p:cNvSpPr/>
          <p:nvPr/>
        </p:nvSpPr>
        <p:spPr>
          <a:xfrm>
            <a:off x="365760" y="320040"/>
            <a:ext cx="8229600" cy="640080"/>
          </a:xfrm>
          <a:prstGeom prst="rect">
            <a:avLst/>
          </a:prstGeom>
          <a:noFill/>
          <a:ln/>
        </p:spPr>
        <p:txBody>
          <a:bodyPr wrap="square" rtlCol="0" anchor="ctr"/>
          <a:lstStyle/>
          <a:p>
            <a:pPr indent="0" marL="0">
              <a:buNone/>
            </a:pPr>
            <a:r>
              <a:rPr lang="en-US" sz="2800" b="1" dirty="0">
                <a:solidFill>
                  <a:srgbClr val="312E81"/>
                </a:solidFill>
                <a:latin typeface="Arial" pitchFamily="34" charset="0"/>
                <a:ea typeface="Arial" pitchFamily="34" charset="-122"/>
                <a:cs typeface="Arial" pitchFamily="34" charset="-120"/>
              </a:rPr>
              <a:t>Clinician and Patient Experiences</a:t>
            </a:r>
            <a:endParaRPr lang="en-US" sz="2800" dirty="0"/>
          </a:p>
        </p:txBody>
      </p:sp>
      <p:sp>
        <p:nvSpPr>
          <p:cNvPr id="4" name="Shape 2"/>
          <p:cNvSpPr/>
          <p:nvPr/>
        </p:nvSpPr>
        <p:spPr>
          <a:xfrm>
            <a:off x="365760" y="1188720"/>
            <a:ext cx="4023360" cy="3200400"/>
          </a:xfrm>
          <a:prstGeom prst="roundRect">
            <a:avLst/>
          </a:prstGeom>
          <a:solidFill>
            <a:srgbClr val="E0E7FF"/>
          </a:solidFill>
          <a:ln w="25400">
            <a:solidFill>
              <a:srgbClr val="6366F1"/>
            </a:solidFill>
            <a:prstDash val="solid"/>
          </a:ln>
        </p:spPr>
      </p:sp>
      <p:sp>
        <p:nvSpPr>
          <p:cNvPr id="5" name="Shape 3"/>
          <p:cNvSpPr/>
          <p:nvPr/>
        </p:nvSpPr>
        <p:spPr>
          <a:xfrm>
            <a:off x="2011680" y="2194560"/>
            <a:ext cx="731520" cy="731520"/>
          </a:xfrm>
          <a:prstGeom prst="ellipse">
            <a:avLst/>
          </a:prstGeom>
          <a:solidFill>
            <a:srgbClr val="4F46E5">
              <a:alpha val="70000"/>
            </a:srgbClr>
          </a:solidFill>
          <a:ln/>
        </p:spPr>
      </p:sp>
      <p:sp>
        <p:nvSpPr>
          <p:cNvPr id="6" name="Shape 4"/>
          <p:cNvSpPr/>
          <p:nvPr/>
        </p:nvSpPr>
        <p:spPr>
          <a:xfrm>
            <a:off x="4754880" y="1188720"/>
            <a:ext cx="4023360" cy="3200400"/>
          </a:xfrm>
          <a:prstGeom prst="roundRect">
            <a:avLst/>
          </a:prstGeom>
          <a:solidFill>
            <a:srgbClr val="FFFFFF"/>
          </a:solidFill>
          <a:ln/>
          <a:effectLst>
            <a:outerShdw sx="100000" sy="100000" kx="0" ky="0" algn="bl" rotWithShape="0" blurRad="101600" dist="25400" dir="2700000">
              <a:srgbClr val="000000">
                <a:alpha val="15000"/>
              </a:srgbClr>
            </a:outerShdw>
          </a:effectLst>
        </p:spPr>
      </p:sp>
      <p:sp>
        <p:nvSpPr>
          <p:cNvPr id="7" name="Text 5"/>
          <p:cNvSpPr/>
          <p:nvPr/>
        </p:nvSpPr>
        <p:spPr>
          <a:xfrm>
            <a:off x="4937760" y="1371600"/>
            <a:ext cx="3657600" cy="2743200"/>
          </a:xfrm>
          <a:prstGeom prst="rect">
            <a:avLst/>
          </a:prstGeom>
          <a:noFill/>
          <a:ln/>
        </p:spPr>
        <p:txBody>
          <a:bodyPr wrap="square" rtlCol="0" anchor="t"/>
          <a:lstStyle/>
          <a:p>
            <a:pPr indent="0" marL="0">
              <a:spcAft>
                <a:spcPts val="1400"/>
              </a:spcAft>
              <a:buNone/>
            </a:pPr>
            <a:r>
              <a:rPr lang="en-US" sz="1500" dirty="0">
                <a:solidFill>
                  <a:srgbClr val="374151"/>
                </a:solidFill>
                <a:latin typeface="Arial" pitchFamily="34" charset="0"/>
                <a:ea typeface="Arial" pitchFamily="34" charset="-122"/>
                <a:cs typeface="Arial" pitchFamily="34" charset="-120"/>
              </a:rPr>
              <a:t>● Nurse module: patient cards, vitals, alerts, MAR
</a:t>
            </a:r>
            <a:pPr indent="0" marL="0">
              <a:spcAft>
                <a:spcPts val="1400"/>
              </a:spcAft>
              <a:buNone/>
            </a:pPr>
            <a:r>
              <a:rPr lang="en-US" sz="1500" dirty="0">
                <a:solidFill>
                  <a:srgbClr val="374151"/>
                </a:solidFill>
                <a:latin typeface="Arial" pitchFamily="34" charset="0"/>
                <a:ea typeface="Arial" pitchFamily="34" charset="-122"/>
                <a:cs typeface="Arial" pitchFamily="34" charset="-120"/>
              </a:rPr>
              <a:t>● Physician module: overview, notes, reconciliation, discharge reports
</a:t>
            </a:r>
            <a:pPr indent="0" marL="0">
              <a:spcAft>
                <a:spcPts val="1400"/>
              </a:spcAft>
              <a:buNone/>
            </a:pPr>
            <a:r>
              <a:rPr lang="en-US" sz="1500" dirty="0">
                <a:solidFill>
                  <a:srgbClr val="374151"/>
                </a:solidFill>
                <a:latin typeface="Arial" pitchFamily="34" charset="0"/>
                <a:ea typeface="Arial" pitchFamily="34" charset="-122"/>
                <a:cs typeface="Arial" pitchFamily="34" charset="-120"/>
              </a:rPr>
              <a:t>● Patient app: device onboarding, vitals, consent, surveys, chat
</a:t>
            </a:r>
            <a:pPr indent="0" marL="0">
              <a:spcAft>
                <a:spcPts val="1400"/>
              </a:spcAft>
              <a:buNone/>
            </a:pPr>
            <a:r>
              <a:rPr lang="en-US" sz="1500" dirty="0">
                <a:solidFill>
                  <a:srgbClr val="374151"/>
                </a:solidFill>
                <a:latin typeface="Arial" pitchFamily="34" charset="0"/>
                <a:ea typeface="Arial" pitchFamily="34" charset="-122"/>
                <a:cs typeface="Arial" pitchFamily="34" charset="-120"/>
              </a:rPr>
              <a:t>● RPM screens: telemetry streaming, dual vitals charts, dashboards
</a:t>
            </a:r>
            <a:pPr indent="0" marL="0">
              <a:spcAft>
                <a:spcPts val="1400"/>
              </a:spcAft>
              <a:buNone/>
            </a:pPr>
            <a:r>
              <a:rPr lang="en-US" sz="1500" dirty="0">
                <a:solidFill>
                  <a:srgbClr val="374151"/>
                </a:solidFill>
                <a:latin typeface="Arial" pitchFamily="34" charset="0"/>
                <a:ea typeface="Arial" pitchFamily="34" charset="-122"/>
                <a:cs typeface="Arial" pitchFamily="34" charset="-120"/>
              </a:rPr>
              <a:t>● Care team, fleet, and medication management tools
</a:t>
            </a:r>
            <a:endParaRPr lang="en-US" sz="1500" dirty="0"/>
          </a:p>
        </p:txBody>
      </p:sp>
      <p:sp>
        <p:nvSpPr>
          <p:cNvPr id="9" name="Text 6"/>
          <p:cNvSpPr/>
          <p:nvPr/>
        </p:nvSpPr>
        <p:spPr>
          <a:xfrm>
            <a:off x="8503920" y="4709160"/>
            <a:ext cx="365760" cy="228600"/>
          </a:xfrm>
          <a:prstGeom prst="rect">
            <a:avLst/>
          </a:prstGeom>
          <a:noFill/>
          <a:ln/>
        </p:spPr>
        <p:txBody>
          <a:bodyPr wrap="square" rtlCol="0" anchor="ctr"/>
          <a:lstStyle/>
          <a:p>
            <a:pPr algn="ctr" indent="0" marL="0">
              <a:buNone/>
            </a:pPr>
            <a:r>
              <a:rPr lang="en-US" sz="1000" dirty="0">
                <a:solidFill>
                  <a:srgbClr val="6366F1"/>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274320"/>
            <a:ext cx="137160" cy="731520"/>
          </a:xfrm>
          <a:prstGeom prst="rect">
            <a:avLst/>
          </a:prstGeom>
          <a:solidFill>
            <a:srgbClr val="4F46E5"/>
          </a:solidFill>
          <a:ln/>
        </p:spPr>
      </p:sp>
      <p:sp>
        <p:nvSpPr>
          <p:cNvPr id="3" name="Text 1"/>
          <p:cNvSpPr/>
          <p:nvPr/>
        </p:nvSpPr>
        <p:spPr>
          <a:xfrm>
            <a:off x="365760" y="320040"/>
            <a:ext cx="7315200" cy="640080"/>
          </a:xfrm>
          <a:prstGeom prst="rect">
            <a:avLst/>
          </a:prstGeom>
          <a:noFill/>
          <a:ln/>
        </p:spPr>
        <p:txBody>
          <a:bodyPr wrap="square" rtlCol="0" anchor="ctr"/>
          <a:lstStyle/>
          <a:p>
            <a:pPr indent="0" marL="0">
              <a:buNone/>
            </a:pPr>
            <a:r>
              <a:rPr lang="en-US" sz="2800" b="1" dirty="0">
                <a:solidFill>
                  <a:srgbClr val="312E81"/>
                </a:solidFill>
                <a:latin typeface="Arial" pitchFamily="34" charset="0"/>
                <a:ea typeface="Arial" pitchFamily="34" charset="-122"/>
                <a:cs typeface="Arial" pitchFamily="34" charset="-120"/>
              </a:rPr>
              <a:t>Advanced Features and Integrations</a:t>
            </a:r>
            <a:endParaRPr lang="en-US" sz="2800" dirty="0"/>
          </a:p>
        </p:txBody>
      </p:sp>
      <p:sp>
        <p:nvSpPr>
          <p:cNvPr id="4" name="Shape 2"/>
          <p:cNvSpPr/>
          <p:nvPr/>
        </p:nvSpPr>
        <p:spPr>
          <a:xfrm>
            <a:off x="8046720" y="228600"/>
            <a:ext cx="640080" cy="640080"/>
          </a:xfrm>
          <a:prstGeom prst="roundRect">
            <a:avLst/>
          </a:prstGeom>
          <a:solidFill>
            <a:srgbClr val="6366F1">
              <a:alpha val="50000"/>
            </a:srgbClr>
          </a:solidFill>
          <a:ln/>
        </p:spPr>
      </p:sp>
      <p:sp>
        <p:nvSpPr>
          <p:cNvPr id="5" name="Shape 3"/>
          <p:cNvSpPr/>
          <p:nvPr/>
        </p:nvSpPr>
        <p:spPr>
          <a:xfrm>
            <a:off x="274320" y="1097280"/>
            <a:ext cx="8595360" cy="3291840"/>
          </a:xfrm>
          <a:prstGeom prst="roundRect">
            <a:avLst/>
          </a:prstGeom>
          <a:solidFill>
            <a:srgbClr val="FFFFFF"/>
          </a:solidFill>
          <a:ln/>
          <a:effectLst>
            <a:outerShdw sx="100000" sy="100000" kx="0" ky="0" algn="bl" rotWithShape="0" blurRad="127000" dist="38100" dir="2700000">
              <a:srgbClr val="000000">
                <a:alpha val="12000"/>
              </a:srgbClr>
            </a:outerShdw>
          </a:effectLst>
        </p:spPr>
      </p:sp>
      <p:sp>
        <p:nvSpPr>
          <p:cNvPr id="6" name="Text 4"/>
          <p:cNvSpPr/>
          <p:nvPr/>
        </p:nvSpPr>
        <p:spPr>
          <a:xfrm>
            <a:off x="548640" y="1280160"/>
            <a:ext cx="8046720" cy="2926080"/>
          </a:xfrm>
          <a:prstGeom prst="rect">
            <a:avLst/>
          </a:prstGeom>
          <a:noFill/>
          <a:ln/>
        </p:spPr>
        <p:txBody>
          <a:bodyPr wrap="square" rtlCol="0" anchor="t"/>
          <a:lstStyle/>
          <a:p>
            <a:pPr marL="342900" indent="-342900">
              <a:spcAft>
                <a:spcPts val="1600"/>
              </a:spcAft>
              <a:buSzPct val="100000"/>
              <a:buFont typeface="+mj-lt"/>
              <a:buAutoNum type="arabicPeriod" startAt="1"/>
            </a:pPr>
            <a:r>
              <a:rPr lang="en-US" sz="1800" dirty="0">
                <a:solidFill>
                  <a:srgbClr val="374151"/>
                </a:solidFill>
                <a:latin typeface="Arial" pitchFamily="34" charset="0"/>
                <a:ea typeface="Arial" pitchFamily="34" charset="-122"/>
                <a:cs typeface="Arial" pitchFamily="34" charset="-120"/>
              </a:rPr>
              <a:t>Vital customization with patient-specific thresholds and alerts
</a:t>
            </a:r>
            <a:endParaRPr lang="en-US" sz="1800" dirty="0"/>
          </a:p>
          <a:p>
            <a:pPr marL="342900" indent="-342900">
              <a:spcAft>
                <a:spcPts val="1600"/>
              </a:spcAft>
              <a:buSzPct val="100000"/>
              <a:buFont typeface="+mj-lt"/>
              <a:buAutoNum type="arabicPeriod" startAt="1"/>
            </a:pPr>
            <a:r>
              <a:rPr lang="en-US" sz="1800" dirty="0">
                <a:solidFill>
                  <a:srgbClr val="374151"/>
                </a:solidFill>
                <a:latin typeface="Arial" pitchFamily="34" charset="0"/>
                <a:ea typeface="Arial" pitchFamily="34" charset="-122"/>
                <a:cs typeface="Arial" pitchFamily="34" charset="-120"/>
              </a:rPr>
              <a:t>Second-opinion referrals and teleconsultation workflows
</a:t>
            </a:r>
            <a:endParaRPr lang="en-US" sz="1800" dirty="0"/>
          </a:p>
          <a:p>
            <a:pPr marL="342900" indent="-342900">
              <a:spcAft>
                <a:spcPts val="1600"/>
              </a:spcAft>
              <a:buSzPct val="100000"/>
              <a:buFont typeface="+mj-lt"/>
              <a:buAutoNum type="arabicPeriod" startAt="1"/>
            </a:pPr>
            <a:r>
              <a:rPr lang="en-US" sz="1800" dirty="0">
                <a:solidFill>
                  <a:srgbClr val="374151"/>
                </a:solidFill>
                <a:latin typeface="Arial" pitchFamily="34" charset="0"/>
                <a:ea typeface="Arial" pitchFamily="34" charset="-122"/>
                <a:cs typeface="Arial" pitchFamily="34" charset="-120"/>
              </a:rPr>
              <a:t>Analytics for call volume, KPIs, workload, SLAs
</a:t>
            </a:r>
            <a:endParaRPr lang="en-US" sz="1800" dirty="0"/>
          </a:p>
          <a:p>
            <a:pPr marL="342900" indent="-342900">
              <a:spcAft>
                <a:spcPts val="1600"/>
              </a:spcAft>
              <a:buSzPct val="100000"/>
              <a:buFont typeface="+mj-lt"/>
              <a:buAutoNum type="arabicPeriod" startAt="1"/>
            </a:pPr>
            <a:r>
              <a:rPr lang="en-US" sz="1800" dirty="0">
                <a:solidFill>
                  <a:srgbClr val="374151"/>
                </a:solidFill>
                <a:latin typeface="Arial" pitchFamily="34" charset="0"/>
                <a:ea typeface="Arial" pitchFamily="34" charset="-122"/>
                <a:cs typeface="Arial" pitchFamily="34" charset="-120"/>
              </a:rPr>
              <a:t>Educational materials: documents, videos, categorization
</a:t>
            </a:r>
            <a:endParaRPr lang="en-US" sz="1800" dirty="0"/>
          </a:p>
          <a:p>
            <a:pPr marL="342900" indent="-342900">
              <a:spcAft>
                <a:spcPts val="1600"/>
              </a:spcAft>
              <a:buSzPct val="100000"/>
              <a:buFont typeface="+mj-lt"/>
              <a:buAutoNum type="arabicPeriod" startAt="1"/>
            </a:pPr>
            <a:r>
              <a:rPr lang="en-US" sz="1800" dirty="0">
                <a:solidFill>
                  <a:srgbClr val="374151"/>
                </a:solidFill>
                <a:latin typeface="Arial" pitchFamily="34" charset="0"/>
                <a:ea typeface="Arial" pitchFamily="34" charset="-122"/>
                <a:cs typeface="Arial" pitchFamily="34" charset="-120"/>
              </a:rPr>
              <a:t>External integrations with EMR, SMS, IVR, video platforms
</a:t>
            </a:r>
            <a:endParaRPr lang="en-US" sz="1800" dirty="0"/>
          </a:p>
        </p:txBody>
      </p:sp>
      <p:sp>
        <p:nvSpPr>
          <p:cNvPr id="7" name="Shape 5"/>
          <p:cNvSpPr/>
          <p:nvPr/>
        </p:nvSpPr>
        <p:spPr>
          <a:xfrm>
            <a:off x="457200" y="4206240"/>
            <a:ext cx="8229600" cy="457200"/>
          </a:xfrm>
          <a:prstGeom prst="roundRect">
            <a:avLst/>
          </a:prstGeom>
          <a:solidFill>
            <a:srgbClr val="E0E7FF"/>
          </a:solidFill>
          <a:ln/>
        </p:spPr>
      </p:sp>
      <p:sp>
        <p:nvSpPr>
          <p:cNvPr id="8" name="Text 6"/>
          <p:cNvSpPr/>
          <p:nvPr/>
        </p:nvSpPr>
        <p:spPr>
          <a:xfrm>
            <a:off x="640080" y="4251960"/>
            <a:ext cx="7863840" cy="365760"/>
          </a:xfrm>
          <a:prstGeom prst="rect">
            <a:avLst/>
          </a:prstGeom>
          <a:noFill/>
          <a:ln/>
        </p:spPr>
        <p:txBody>
          <a:bodyPr wrap="square" rtlCol="0" anchor="ctr"/>
          <a:lstStyle/>
          <a:p>
            <a:pPr indent="0" marL="0">
              <a:buNone/>
            </a:pPr>
            <a:r>
              <a:rPr lang="en-US" sz="1200" b="1" dirty="0">
                <a:solidFill>
                  <a:srgbClr val="312E81"/>
                </a:solidFill>
                <a:latin typeface="Arial" pitchFamily="34" charset="0"/>
                <a:ea typeface="Arial" pitchFamily="34" charset="-122"/>
                <a:cs typeface="Arial" pitchFamily="34" charset="-120"/>
              </a:rPr>
              <a:t>💡 Advanced workflows, analytics, and integrations</a:t>
            </a:r>
            <a:endParaRPr lang="en-US" sz="1200" dirty="0"/>
          </a:p>
        </p:txBody>
      </p:sp>
      <p:sp>
        <p:nvSpPr>
          <p:cNvPr id="10" name="Text 7"/>
          <p:cNvSpPr/>
          <p:nvPr/>
        </p:nvSpPr>
        <p:spPr>
          <a:xfrm>
            <a:off x="8503920" y="4709160"/>
            <a:ext cx="365760" cy="228600"/>
          </a:xfrm>
          <a:prstGeom prst="rect">
            <a:avLst/>
          </a:prstGeom>
          <a:noFill/>
          <a:ln/>
        </p:spPr>
        <p:txBody>
          <a:bodyPr wrap="square" rtlCol="0" anchor="ctr"/>
          <a:lstStyle/>
          <a:p>
            <a:pPr algn="ctr" indent="0" marL="0">
              <a:buNone/>
            </a:pPr>
            <a:r>
              <a:rPr lang="en-US" sz="1000" dirty="0">
                <a:solidFill>
                  <a:srgbClr val="6366F1"/>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274320"/>
            <a:ext cx="137160" cy="731520"/>
          </a:xfrm>
          <a:prstGeom prst="rect">
            <a:avLst/>
          </a:prstGeom>
          <a:solidFill>
            <a:srgbClr val="4F46E5"/>
          </a:solidFill>
          <a:ln/>
        </p:spPr>
      </p:sp>
      <p:sp>
        <p:nvSpPr>
          <p:cNvPr id="3" name="Text 1"/>
          <p:cNvSpPr/>
          <p:nvPr/>
        </p:nvSpPr>
        <p:spPr>
          <a:xfrm>
            <a:off x="365760" y="320040"/>
            <a:ext cx="8229600" cy="640080"/>
          </a:xfrm>
          <a:prstGeom prst="rect">
            <a:avLst/>
          </a:prstGeom>
          <a:noFill/>
          <a:ln/>
        </p:spPr>
        <p:txBody>
          <a:bodyPr wrap="square" rtlCol="0" anchor="ctr"/>
          <a:lstStyle/>
          <a:p>
            <a:pPr indent="0" marL="0">
              <a:buNone/>
            </a:pPr>
            <a:r>
              <a:rPr lang="en-US" sz="2800" b="1" dirty="0">
                <a:solidFill>
                  <a:srgbClr val="312E81"/>
                </a:solidFill>
                <a:latin typeface="Arial" pitchFamily="34" charset="0"/>
                <a:ea typeface="Arial" pitchFamily="34" charset="-122"/>
                <a:cs typeface="Arial" pitchFamily="34" charset="-120"/>
              </a:rPr>
              <a:t>Milestone-Based Phased Delivery</a:t>
            </a:r>
            <a:endParaRPr lang="en-US" sz="2800" dirty="0"/>
          </a:p>
        </p:txBody>
      </p:sp>
      <p:sp>
        <p:nvSpPr>
          <p:cNvPr id="4" name="Shape 2"/>
          <p:cNvSpPr/>
          <p:nvPr/>
        </p:nvSpPr>
        <p:spPr>
          <a:xfrm>
            <a:off x="457200" y="2286000"/>
            <a:ext cx="8229600" cy="45720"/>
          </a:xfrm>
          <a:prstGeom prst="rect">
            <a:avLst/>
          </a:prstGeom>
          <a:solidFill>
            <a:srgbClr val="6366F1"/>
          </a:solidFill>
          <a:ln/>
        </p:spPr>
      </p:sp>
      <p:sp>
        <p:nvSpPr>
          <p:cNvPr id="5" name="Shape 3"/>
          <p:cNvSpPr/>
          <p:nvPr/>
        </p:nvSpPr>
        <p:spPr>
          <a:xfrm>
            <a:off x="1143000" y="2148840"/>
            <a:ext cx="274320" cy="274320"/>
          </a:xfrm>
          <a:prstGeom prst="ellipse">
            <a:avLst/>
          </a:prstGeom>
          <a:solidFill>
            <a:srgbClr val="4F46E5"/>
          </a:solidFill>
          <a:ln/>
        </p:spPr>
      </p:sp>
      <p:sp>
        <p:nvSpPr>
          <p:cNvPr id="6" name="Shape 4"/>
          <p:cNvSpPr/>
          <p:nvPr/>
        </p:nvSpPr>
        <p:spPr>
          <a:xfrm>
            <a:off x="548640" y="2651760"/>
            <a:ext cx="1463040" cy="1645920"/>
          </a:xfrm>
          <a:prstGeom prst="roundRect">
            <a:avLst/>
          </a:prstGeom>
          <a:solidFill>
            <a:srgbClr val="FFFFFF"/>
          </a:solidFill>
          <a:ln/>
          <a:effectLst>
            <a:outerShdw sx="100000" sy="100000" kx="0" ky="0" algn="bl" rotWithShape="0" blurRad="76200" dist="25400" dir="2700000">
              <a:srgbClr val="000000">
                <a:alpha val="12000"/>
              </a:srgbClr>
            </a:outerShdw>
          </a:effectLst>
        </p:spPr>
      </p:sp>
      <p:sp>
        <p:nvSpPr>
          <p:cNvPr id="7" name="Text 5"/>
          <p:cNvSpPr/>
          <p:nvPr/>
        </p:nvSpPr>
        <p:spPr>
          <a:xfrm>
            <a:off x="548640" y="2743200"/>
            <a:ext cx="1463040" cy="365760"/>
          </a:xfrm>
          <a:prstGeom prst="rect">
            <a:avLst/>
          </a:prstGeom>
          <a:noFill/>
          <a:ln/>
        </p:spPr>
        <p:txBody>
          <a:bodyPr wrap="square" rtlCol="0" anchor="ctr"/>
          <a:lstStyle/>
          <a:p>
            <a:pPr algn="ctr" indent="0" marL="0">
              <a:buNone/>
            </a:pPr>
            <a:r>
              <a:rPr lang="en-US" sz="2000" b="1" dirty="0">
                <a:solidFill>
                  <a:srgbClr val="4F46E5"/>
                </a:solidFill>
                <a:latin typeface="Arial" pitchFamily="34" charset="0"/>
                <a:ea typeface="Arial" pitchFamily="34" charset="-122"/>
                <a:cs typeface="Arial" pitchFamily="34" charset="-120"/>
              </a:rPr>
              <a:t>1</a:t>
            </a:r>
            <a:endParaRPr lang="en-US" sz="2000" dirty="0"/>
          </a:p>
        </p:txBody>
      </p:sp>
      <p:sp>
        <p:nvSpPr>
          <p:cNvPr id="8" name="Text 6"/>
          <p:cNvSpPr/>
          <p:nvPr/>
        </p:nvSpPr>
        <p:spPr>
          <a:xfrm>
            <a:off x="640080" y="3108960"/>
            <a:ext cx="1280160" cy="1097280"/>
          </a:xfrm>
          <a:prstGeom prst="rect">
            <a:avLst/>
          </a:prstGeom>
          <a:noFill/>
          <a:ln/>
        </p:spPr>
        <p:txBody>
          <a:bodyPr wrap="square" rtlCol="0" anchor="t"/>
          <a:lstStyle/>
          <a:p>
            <a:pPr algn="ctr" indent="0" marL="0">
              <a:buNone/>
            </a:pPr>
            <a:r>
              <a:rPr lang="en-US" sz="1100" dirty="0">
                <a:solidFill>
                  <a:srgbClr val="4B5563"/>
                </a:solidFill>
                <a:latin typeface="Arial" pitchFamily="34" charset="0"/>
                <a:ea typeface="Arial" pitchFamily="34" charset="-122"/>
                <a:cs typeface="Arial" pitchFamily="34" charset="-120"/>
              </a:rPr>
              <a:t>Milestone 1: Core platform and clinical foundations</a:t>
            </a:r>
            <a:endParaRPr lang="en-US" sz="1100" dirty="0"/>
          </a:p>
        </p:txBody>
      </p:sp>
      <p:sp>
        <p:nvSpPr>
          <p:cNvPr id="9" name="Shape 7"/>
          <p:cNvSpPr/>
          <p:nvPr/>
        </p:nvSpPr>
        <p:spPr>
          <a:xfrm>
            <a:off x="2788920" y="2148840"/>
            <a:ext cx="274320" cy="274320"/>
          </a:xfrm>
          <a:prstGeom prst="ellipse">
            <a:avLst/>
          </a:prstGeom>
          <a:solidFill>
            <a:srgbClr val="4F46E5"/>
          </a:solidFill>
          <a:ln/>
        </p:spPr>
      </p:sp>
      <p:sp>
        <p:nvSpPr>
          <p:cNvPr id="10" name="Shape 8"/>
          <p:cNvSpPr/>
          <p:nvPr/>
        </p:nvSpPr>
        <p:spPr>
          <a:xfrm>
            <a:off x="2194560" y="2651760"/>
            <a:ext cx="1463040" cy="1645920"/>
          </a:xfrm>
          <a:prstGeom prst="roundRect">
            <a:avLst/>
          </a:prstGeom>
          <a:solidFill>
            <a:srgbClr val="FFFFFF"/>
          </a:solidFill>
          <a:ln/>
          <a:effectLst>
            <a:outerShdw sx="100000" sy="100000" kx="0" ky="0" algn="bl" rotWithShape="0" blurRad="76200" dist="25400" dir="2700000">
              <a:srgbClr val="000000">
                <a:alpha val="12000"/>
              </a:srgbClr>
            </a:outerShdw>
          </a:effectLst>
        </p:spPr>
      </p:sp>
      <p:sp>
        <p:nvSpPr>
          <p:cNvPr id="11" name="Text 9"/>
          <p:cNvSpPr/>
          <p:nvPr/>
        </p:nvSpPr>
        <p:spPr>
          <a:xfrm>
            <a:off x="2194560" y="2743200"/>
            <a:ext cx="1463040" cy="365760"/>
          </a:xfrm>
          <a:prstGeom prst="rect">
            <a:avLst/>
          </a:prstGeom>
          <a:noFill/>
          <a:ln/>
        </p:spPr>
        <p:txBody>
          <a:bodyPr wrap="square" rtlCol="0" anchor="ctr"/>
          <a:lstStyle/>
          <a:p>
            <a:pPr algn="ctr" indent="0" marL="0">
              <a:buNone/>
            </a:pPr>
            <a:r>
              <a:rPr lang="en-US" sz="2000" b="1" dirty="0">
                <a:solidFill>
                  <a:srgbClr val="4F46E5"/>
                </a:solidFill>
                <a:latin typeface="Arial" pitchFamily="34" charset="0"/>
                <a:ea typeface="Arial" pitchFamily="34" charset="-122"/>
                <a:cs typeface="Arial" pitchFamily="34" charset="-120"/>
              </a:rPr>
              <a:t>2</a:t>
            </a:r>
            <a:endParaRPr lang="en-US" sz="2000" dirty="0"/>
          </a:p>
        </p:txBody>
      </p:sp>
      <p:sp>
        <p:nvSpPr>
          <p:cNvPr id="12" name="Text 10"/>
          <p:cNvSpPr/>
          <p:nvPr/>
        </p:nvSpPr>
        <p:spPr>
          <a:xfrm>
            <a:off x="2286000" y="3108960"/>
            <a:ext cx="1280160" cy="1097280"/>
          </a:xfrm>
          <a:prstGeom prst="rect">
            <a:avLst/>
          </a:prstGeom>
          <a:noFill/>
          <a:ln/>
        </p:spPr>
        <p:txBody>
          <a:bodyPr wrap="square" rtlCol="0" anchor="t"/>
          <a:lstStyle/>
          <a:p>
            <a:pPr algn="ctr" indent="0" marL="0">
              <a:buNone/>
            </a:pPr>
            <a:r>
              <a:rPr lang="en-US" sz="1100" dirty="0">
                <a:solidFill>
                  <a:srgbClr val="4B5563"/>
                </a:solidFill>
                <a:latin typeface="Arial" pitchFamily="34" charset="0"/>
                <a:ea typeface="Arial" pitchFamily="34" charset="-122"/>
                <a:cs typeface="Arial" pitchFamily="34" charset="-120"/>
              </a:rPr>
              <a:t>Milestone 2: Enhancements, audit, collaboration modules</a:t>
            </a:r>
            <a:endParaRPr lang="en-US" sz="1100" dirty="0"/>
          </a:p>
        </p:txBody>
      </p:sp>
      <p:sp>
        <p:nvSpPr>
          <p:cNvPr id="13" name="Shape 11"/>
          <p:cNvSpPr/>
          <p:nvPr/>
        </p:nvSpPr>
        <p:spPr>
          <a:xfrm>
            <a:off x="4434840" y="2148840"/>
            <a:ext cx="274320" cy="274320"/>
          </a:xfrm>
          <a:prstGeom prst="ellipse">
            <a:avLst/>
          </a:prstGeom>
          <a:solidFill>
            <a:srgbClr val="4F46E5"/>
          </a:solidFill>
          <a:ln/>
        </p:spPr>
      </p:sp>
      <p:sp>
        <p:nvSpPr>
          <p:cNvPr id="14" name="Shape 12"/>
          <p:cNvSpPr/>
          <p:nvPr/>
        </p:nvSpPr>
        <p:spPr>
          <a:xfrm>
            <a:off x="3840480" y="2651760"/>
            <a:ext cx="1463040" cy="1645920"/>
          </a:xfrm>
          <a:prstGeom prst="roundRect">
            <a:avLst/>
          </a:prstGeom>
          <a:solidFill>
            <a:srgbClr val="FFFFFF"/>
          </a:solidFill>
          <a:ln/>
          <a:effectLst>
            <a:outerShdw sx="100000" sy="100000" kx="0" ky="0" algn="bl" rotWithShape="0" blurRad="76200" dist="25400" dir="2700000">
              <a:srgbClr val="000000">
                <a:alpha val="12000"/>
              </a:srgbClr>
            </a:outerShdw>
          </a:effectLst>
        </p:spPr>
      </p:sp>
      <p:sp>
        <p:nvSpPr>
          <p:cNvPr id="15" name="Text 13"/>
          <p:cNvSpPr/>
          <p:nvPr/>
        </p:nvSpPr>
        <p:spPr>
          <a:xfrm>
            <a:off x="3840480" y="2743200"/>
            <a:ext cx="1463040" cy="365760"/>
          </a:xfrm>
          <a:prstGeom prst="rect">
            <a:avLst/>
          </a:prstGeom>
          <a:noFill/>
          <a:ln/>
        </p:spPr>
        <p:txBody>
          <a:bodyPr wrap="square" rtlCol="0" anchor="ctr"/>
          <a:lstStyle/>
          <a:p>
            <a:pPr algn="ctr" indent="0" marL="0">
              <a:buNone/>
            </a:pPr>
            <a:r>
              <a:rPr lang="en-US" sz="2000" b="1" dirty="0">
                <a:solidFill>
                  <a:srgbClr val="4F46E5"/>
                </a:solidFill>
                <a:latin typeface="Arial" pitchFamily="34" charset="0"/>
                <a:ea typeface="Arial" pitchFamily="34" charset="-122"/>
                <a:cs typeface="Arial" pitchFamily="34" charset="-120"/>
              </a:rPr>
              <a:t>3</a:t>
            </a:r>
            <a:endParaRPr lang="en-US" sz="2000" dirty="0"/>
          </a:p>
        </p:txBody>
      </p:sp>
      <p:sp>
        <p:nvSpPr>
          <p:cNvPr id="16" name="Text 14"/>
          <p:cNvSpPr/>
          <p:nvPr/>
        </p:nvSpPr>
        <p:spPr>
          <a:xfrm>
            <a:off x="3931920" y="3108960"/>
            <a:ext cx="1280160" cy="1097280"/>
          </a:xfrm>
          <a:prstGeom prst="rect">
            <a:avLst/>
          </a:prstGeom>
          <a:noFill/>
          <a:ln/>
        </p:spPr>
        <p:txBody>
          <a:bodyPr wrap="square" rtlCol="0" anchor="t"/>
          <a:lstStyle/>
          <a:p>
            <a:pPr algn="ctr" indent="0" marL="0">
              <a:buNone/>
            </a:pPr>
            <a:r>
              <a:rPr lang="en-US" sz="1100" dirty="0">
                <a:solidFill>
                  <a:srgbClr val="4B5563"/>
                </a:solidFill>
                <a:latin typeface="Arial" pitchFamily="34" charset="0"/>
                <a:ea typeface="Arial" pitchFamily="34" charset="-122"/>
                <a:cs typeface="Arial" pitchFamily="34" charset="-120"/>
              </a:rPr>
              <a:t>Milestone 3: Extended capabilities and integrations rollout</a:t>
            </a:r>
            <a:endParaRPr lang="en-US" sz="1100" dirty="0"/>
          </a:p>
        </p:txBody>
      </p:sp>
      <p:sp>
        <p:nvSpPr>
          <p:cNvPr id="17" name="Shape 15"/>
          <p:cNvSpPr/>
          <p:nvPr/>
        </p:nvSpPr>
        <p:spPr>
          <a:xfrm>
            <a:off x="6080760" y="2148840"/>
            <a:ext cx="274320" cy="274320"/>
          </a:xfrm>
          <a:prstGeom prst="ellipse">
            <a:avLst/>
          </a:prstGeom>
          <a:solidFill>
            <a:srgbClr val="4F46E5"/>
          </a:solidFill>
          <a:ln/>
        </p:spPr>
      </p:sp>
      <p:sp>
        <p:nvSpPr>
          <p:cNvPr id="18" name="Shape 16"/>
          <p:cNvSpPr/>
          <p:nvPr/>
        </p:nvSpPr>
        <p:spPr>
          <a:xfrm>
            <a:off x="5486400" y="2651760"/>
            <a:ext cx="1463040" cy="1645920"/>
          </a:xfrm>
          <a:prstGeom prst="roundRect">
            <a:avLst/>
          </a:prstGeom>
          <a:solidFill>
            <a:srgbClr val="FFFFFF"/>
          </a:solidFill>
          <a:ln/>
          <a:effectLst>
            <a:outerShdw sx="100000" sy="100000" kx="0" ky="0" algn="bl" rotWithShape="0" blurRad="76200" dist="25400" dir="2700000">
              <a:srgbClr val="000000">
                <a:alpha val="12000"/>
              </a:srgbClr>
            </a:outerShdw>
          </a:effectLst>
        </p:spPr>
      </p:sp>
      <p:sp>
        <p:nvSpPr>
          <p:cNvPr id="19" name="Text 17"/>
          <p:cNvSpPr/>
          <p:nvPr/>
        </p:nvSpPr>
        <p:spPr>
          <a:xfrm>
            <a:off x="5486400" y="2743200"/>
            <a:ext cx="1463040" cy="365760"/>
          </a:xfrm>
          <a:prstGeom prst="rect">
            <a:avLst/>
          </a:prstGeom>
          <a:noFill/>
          <a:ln/>
        </p:spPr>
        <p:txBody>
          <a:bodyPr wrap="square" rtlCol="0" anchor="ctr"/>
          <a:lstStyle/>
          <a:p>
            <a:pPr algn="ctr" indent="0" marL="0">
              <a:buNone/>
            </a:pPr>
            <a:r>
              <a:rPr lang="en-US" sz="2000" b="1" dirty="0">
                <a:solidFill>
                  <a:srgbClr val="4F46E5"/>
                </a:solidFill>
                <a:latin typeface="Arial" pitchFamily="34" charset="0"/>
                <a:ea typeface="Arial" pitchFamily="34" charset="-122"/>
                <a:cs typeface="Arial" pitchFamily="34" charset="-120"/>
              </a:rPr>
              <a:t>4</a:t>
            </a:r>
            <a:endParaRPr lang="en-US" sz="2000" dirty="0"/>
          </a:p>
        </p:txBody>
      </p:sp>
      <p:sp>
        <p:nvSpPr>
          <p:cNvPr id="20" name="Text 18"/>
          <p:cNvSpPr/>
          <p:nvPr/>
        </p:nvSpPr>
        <p:spPr>
          <a:xfrm>
            <a:off x="5577840" y="3108960"/>
            <a:ext cx="1280160" cy="1097280"/>
          </a:xfrm>
          <a:prstGeom prst="rect">
            <a:avLst/>
          </a:prstGeom>
          <a:noFill/>
          <a:ln/>
        </p:spPr>
        <p:txBody>
          <a:bodyPr wrap="square" rtlCol="0" anchor="t"/>
          <a:lstStyle/>
          <a:p>
            <a:pPr algn="ctr" indent="0" marL="0">
              <a:buNone/>
            </a:pPr>
            <a:r>
              <a:rPr lang="en-US" sz="1100" dirty="0">
                <a:solidFill>
                  <a:srgbClr val="4B5563"/>
                </a:solidFill>
                <a:latin typeface="Arial" pitchFamily="34" charset="0"/>
                <a:ea typeface="Arial" pitchFamily="34" charset="-122"/>
                <a:cs typeface="Arial" pitchFamily="34" charset="-120"/>
              </a:rPr>
              <a:t>UAT and production readiness validation</a:t>
            </a:r>
            <a:endParaRPr lang="en-US" sz="1100" dirty="0"/>
          </a:p>
        </p:txBody>
      </p:sp>
      <p:sp>
        <p:nvSpPr>
          <p:cNvPr id="21" name="Shape 19"/>
          <p:cNvSpPr/>
          <p:nvPr/>
        </p:nvSpPr>
        <p:spPr>
          <a:xfrm>
            <a:off x="7726680" y="2148840"/>
            <a:ext cx="274320" cy="274320"/>
          </a:xfrm>
          <a:prstGeom prst="ellipse">
            <a:avLst/>
          </a:prstGeom>
          <a:solidFill>
            <a:srgbClr val="4F46E5"/>
          </a:solidFill>
          <a:ln/>
        </p:spPr>
      </p:sp>
      <p:sp>
        <p:nvSpPr>
          <p:cNvPr id="22" name="Shape 20"/>
          <p:cNvSpPr/>
          <p:nvPr/>
        </p:nvSpPr>
        <p:spPr>
          <a:xfrm>
            <a:off x="7132320" y="2651760"/>
            <a:ext cx="1463040" cy="1645920"/>
          </a:xfrm>
          <a:prstGeom prst="roundRect">
            <a:avLst/>
          </a:prstGeom>
          <a:solidFill>
            <a:srgbClr val="FFFFFF"/>
          </a:solidFill>
          <a:ln/>
          <a:effectLst>
            <a:outerShdw sx="100000" sy="100000" kx="0" ky="0" algn="bl" rotWithShape="0" blurRad="76200" dist="25400" dir="2700000">
              <a:srgbClr val="000000">
                <a:alpha val="12000"/>
              </a:srgbClr>
            </a:outerShdw>
          </a:effectLst>
        </p:spPr>
      </p:sp>
      <p:sp>
        <p:nvSpPr>
          <p:cNvPr id="23" name="Text 21"/>
          <p:cNvSpPr/>
          <p:nvPr/>
        </p:nvSpPr>
        <p:spPr>
          <a:xfrm>
            <a:off x="7132320" y="2743200"/>
            <a:ext cx="1463040" cy="365760"/>
          </a:xfrm>
          <a:prstGeom prst="rect">
            <a:avLst/>
          </a:prstGeom>
          <a:noFill/>
          <a:ln/>
        </p:spPr>
        <p:txBody>
          <a:bodyPr wrap="square" rtlCol="0" anchor="ctr"/>
          <a:lstStyle/>
          <a:p>
            <a:pPr algn="ctr" indent="0" marL="0">
              <a:buNone/>
            </a:pPr>
            <a:r>
              <a:rPr lang="en-US" sz="2000" b="1" dirty="0">
                <a:solidFill>
                  <a:srgbClr val="4F46E5"/>
                </a:solidFill>
                <a:latin typeface="Arial" pitchFamily="34" charset="0"/>
                <a:ea typeface="Arial" pitchFamily="34" charset="-122"/>
                <a:cs typeface="Arial" pitchFamily="34" charset="-120"/>
              </a:rPr>
              <a:t>5</a:t>
            </a:r>
            <a:endParaRPr lang="en-US" sz="2000" dirty="0"/>
          </a:p>
        </p:txBody>
      </p:sp>
      <p:sp>
        <p:nvSpPr>
          <p:cNvPr id="24" name="Text 22"/>
          <p:cNvSpPr/>
          <p:nvPr/>
        </p:nvSpPr>
        <p:spPr>
          <a:xfrm>
            <a:off x="7223760" y="3108960"/>
            <a:ext cx="1280160" cy="1097280"/>
          </a:xfrm>
          <a:prstGeom prst="rect">
            <a:avLst/>
          </a:prstGeom>
          <a:noFill/>
          <a:ln/>
        </p:spPr>
        <p:txBody>
          <a:bodyPr wrap="square" rtlCol="0" anchor="t"/>
          <a:lstStyle/>
          <a:p>
            <a:pPr algn="ctr" indent="0" marL="0">
              <a:buNone/>
            </a:pPr>
            <a:r>
              <a:rPr lang="en-US" sz="1100" dirty="0">
                <a:solidFill>
                  <a:srgbClr val="4B5563"/>
                </a:solidFill>
                <a:latin typeface="Arial" pitchFamily="34" charset="0"/>
                <a:ea typeface="Arial" pitchFamily="34" charset="-122"/>
                <a:cs typeface="Arial" pitchFamily="34" charset="-120"/>
              </a:rPr>
              <a:t>Go-live, handover and 30-day HyperCare</a:t>
            </a:r>
            <a:endParaRPr lang="en-US" sz="1100" dirty="0"/>
          </a:p>
        </p:txBody>
      </p:sp>
      <p:sp>
        <p:nvSpPr>
          <p:cNvPr id="26" name="Text 23"/>
          <p:cNvSpPr/>
          <p:nvPr/>
        </p:nvSpPr>
        <p:spPr>
          <a:xfrm>
            <a:off x="8503920" y="4709160"/>
            <a:ext cx="365760" cy="228600"/>
          </a:xfrm>
          <a:prstGeom prst="rect">
            <a:avLst/>
          </a:prstGeom>
          <a:noFill/>
          <a:ln/>
        </p:spPr>
        <p:txBody>
          <a:bodyPr wrap="square" rtlCol="0" anchor="ctr"/>
          <a:lstStyle/>
          <a:p>
            <a:pPr algn="ctr" indent="0" marL="0">
              <a:buNone/>
            </a:pPr>
            <a:r>
              <a:rPr lang="en-US" sz="1000" dirty="0">
                <a:solidFill>
                  <a:srgbClr val="6366F1"/>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274320"/>
            <a:ext cx="137160" cy="731520"/>
          </a:xfrm>
          <a:prstGeom prst="rect">
            <a:avLst/>
          </a:prstGeom>
          <a:solidFill>
            <a:srgbClr val="4F46E5"/>
          </a:solidFill>
          <a:ln/>
        </p:spPr>
      </p:sp>
      <p:sp>
        <p:nvSpPr>
          <p:cNvPr id="3" name="Text 1"/>
          <p:cNvSpPr/>
          <p:nvPr/>
        </p:nvSpPr>
        <p:spPr>
          <a:xfrm>
            <a:off x="365760" y="320040"/>
            <a:ext cx="8229600" cy="640080"/>
          </a:xfrm>
          <a:prstGeom prst="rect">
            <a:avLst/>
          </a:prstGeom>
          <a:noFill/>
          <a:ln/>
        </p:spPr>
        <p:txBody>
          <a:bodyPr wrap="square" rtlCol="0" anchor="ctr"/>
          <a:lstStyle/>
          <a:p>
            <a:pPr indent="0" marL="0">
              <a:buNone/>
            </a:pPr>
            <a:r>
              <a:rPr lang="en-US" sz="2800" b="1" dirty="0">
                <a:solidFill>
                  <a:srgbClr val="312E81"/>
                </a:solidFill>
                <a:latin typeface="Arial" pitchFamily="34" charset="0"/>
                <a:ea typeface="Arial" pitchFamily="34" charset="-122"/>
                <a:cs typeface="Arial" pitchFamily="34" charset="-120"/>
              </a:rPr>
              <a:t>Scope, Assumptions, and Exclusions</a:t>
            </a:r>
            <a:endParaRPr lang="en-US" sz="2800" dirty="0"/>
          </a:p>
        </p:txBody>
      </p:sp>
      <p:sp>
        <p:nvSpPr>
          <p:cNvPr id="4" name="Shape 2"/>
          <p:cNvSpPr/>
          <p:nvPr/>
        </p:nvSpPr>
        <p:spPr>
          <a:xfrm>
            <a:off x="274320" y="1188720"/>
            <a:ext cx="4023360" cy="3200400"/>
          </a:xfrm>
          <a:prstGeom prst="roundRect">
            <a:avLst/>
          </a:prstGeom>
          <a:solidFill>
            <a:srgbClr val="FFFFFF"/>
          </a:solidFill>
          <a:ln/>
          <a:effectLst>
            <a:outerShdw sx="100000" sy="100000" kx="0" ky="0" algn="bl" rotWithShape="0" blurRad="101600" dist="25400" dir="2700000">
              <a:srgbClr val="000000">
                <a:alpha val="15000"/>
              </a:srgbClr>
            </a:outerShdw>
          </a:effectLst>
        </p:spPr>
      </p:sp>
      <p:sp>
        <p:nvSpPr>
          <p:cNvPr id="5" name="Text 3"/>
          <p:cNvSpPr/>
          <p:nvPr/>
        </p:nvSpPr>
        <p:spPr>
          <a:xfrm>
            <a:off x="457200" y="1371600"/>
            <a:ext cx="3657600" cy="2743200"/>
          </a:xfrm>
          <a:prstGeom prst="rect">
            <a:avLst/>
          </a:prstGeom>
          <a:noFill/>
          <a:ln/>
        </p:spPr>
        <p:txBody>
          <a:bodyPr wrap="square" rtlCol="0" anchor="t"/>
          <a:lstStyle/>
          <a:p>
            <a:pPr indent="0" marL="0">
              <a:spcAft>
                <a:spcPts val="1200"/>
              </a:spcAft>
              <a:buNone/>
            </a:pPr>
            <a:r>
              <a:rPr lang="en-US" sz="1600" dirty="0">
                <a:solidFill>
                  <a:srgbClr val="374151"/>
                </a:solidFill>
                <a:latin typeface="Arial" pitchFamily="34" charset="0"/>
                <a:ea typeface="Arial" pitchFamily="34" charset="-122"/>
                <a:cs typeface="Arial" pitchFamily="34" charset="-120"/>
              </a:rPr>
              <a:t>● Scope limited to modules in approved milestone plan
</a:t>
            </a:r>
            <a:pPr indent="0" marL="0">
              <a:spcAft>
                <a:spcPts val="1200"/>
              </a:spcAft>
              <a:buNone/>
            </a:pPr>
            <a:r>
              <a:rPr lang="en-US" sz="1600" dirty="0">
                <a:solidFill>
                  <a:srgbClr val="374151"/>
                </a:solidFill>
                <a:latin typeface="Arial" pitchFamily="34" charset="0"/>
                <a:ea typeface="Arial" pitchFamily="34" charset="-122"/>
                <a:cs typeface="Arial" pitchFamily="34" charset="-120"/>
              </a:rPr>
              <a:t>● Includes design, build, integration, validation, deployment
</a:t>
            </a:r>
            <a:pPr indent="0" marL="0">
              <a:spcAft>
                <a:spcPts val="1200"/>
              </a:spcAft>
              <a:buNone/>
            </a:pPr>
            <a:r>
              <a:rPr lang="en-US" sz="1600" dirty="0">
                <a:solidFill>
                  <a:srgbClr val="374151"/>
                </a:solidFill>
                <a:latin typeface="Arial" pitchFamily="34" charset="0"/>
                <a:ea typeface="Arial" pitchFamily="34" charset="-122"/>
                <a:cs typeface="Arial" pitchFamily="34" charset="-120"/>
              </a:rPr>
              <a:t>● Excludes unlisted features without formal change requests
</a:t>
            </a:r>
            <a:endParaRPr lang="en-US" sz="1600" dirty="0"/>
          </a:p>
        </p:txBody>
      </p:sp>
      <p:sp>
        <p:nvSpPr>
          <p:cNvPr id="6" name="Shape 4"/>
          <p:cNvSpPr/>
          <p:nvPr/>
        </p:nvSpPr>
        <p:spPr>
          <a:xfrm>
            <a:off x="4846320" y="1188720"/>
            <a:ext cx="4023360" cy="3200400"/>
          </a:xfrm>
          <a:prstGeom prst="roundRect">
            <a:avLst/>
          </a:prstGeom>
          <a:solidFill>
            <a:srgbClr val="FFFFFF"/>
          </a:solidFill>
          <a:ln/>
          <a:effectLst>
            <a:outerShdw sx="100000" sy="100000" kx="0" ky="0" algn="bl" rotWithShape="0" blurRad="101600" dist="25400" dir="2700000">
              <a:srgbClr val="000000">
                <a:alpha val="15000"/>
              </a:srgbClr>
            </a:outerShdw>
          </a:effectLst>
        </p:spPr>
      </p:sp>
      <p:sp>
        <p:nvSpPr>
          <p:cNvPr id="7" name="Text 5"/>
          <p:cNvSpPr/>
          <p:nvPr/>
        </p:nvSpPr>
        <p:spPr>
          <a:xfrm>
            <a:off x="5029200" y="1371600"/>
            <a:ext cx="3657600" cy="2743200"/>
          </a:xfrm>
          <a:prstGeom prst="rect">
            <a:avLst/>
          </a:prstGeom>
          <a:noFill/>
          <a:ln/>
        </p:spPr>
        <p:txBody>
          <a:bodyPr wrap="square" rtlCol="0" anchor="t"/>
          <a:lstStyle/>
          <a:p>
            <a:pPr indent="0" marL="0">
              <a:spcAft>
                <a:spcPts val="1200"/>
              </a:spcAft>
              <a:buNone/>
            </a:pPr>
            <a:r>
              <a:rPr lang="en-US" sz="1600" dirty="0">
                <a:solidFill>
                  <a:srgbClr val="374151"/>
                </a:solidFill>
                <a:latin typeface="Arial" pitchFamily="34" charset="0"/>
                <a:ea typeface="Arial" pitchFamily="34" charset="-122"/>
                <a:cs typeface="Arial" pitchFamily="34" charset="-120"/>
              </a:rPr>
              <a:t>● Infrastructure beyond deployment needs is out of scope
</a:t>
            </a:r>
            <a:pPr indent="0" marL="0">
              <a:spcAft>
                <a:spcPts val="1200"/>
              </a:spcAft>
              <a:buNone/>
            </a:pPr>
            <a:r>
              <a:rPr lang="en-US" sz="1600" dirty="0">
                <a:solidFill>
                  <a:srgbClr val="374151"/>
                </a:solidFill>
                <a:latin typeface="Arial" pitchFamily="34" charset="0"/>
                <a:ea typeface="Arial" pitchFamily="34" charset="-122"/>
                <a:cs typeface="Arial" pitchFamily="34" charset="-120"/>
              </a:rPr>
              <a:t>● Post-HyperCare support via separate agreements only
</a:t>
            </a:r>
            <a:endParaRPr lang="en-US" sz="1600" dirty="0"/>
          </a:p>
        </p:txBody>
      </p:sp>
      <p:sp>
        <p:nvSpPr>
          <p:cNvPr id="9" name="Text 6"/>
          <p:cNvSpPr/>
          <p:nvPr/>
        </p:nvSpPr>
        <p:spPr>
          <a:xfrm>
            <a:off x="8503920" y="4709160"/>
            <a:ext cx="365760" cy="228600"/>
          </a:xfrm>
          <a:prstGeom prst="rect">
            <a:avLst/>
          </a:prstGeom>
          <a:noFill/>
          <a:ln/>
        </p:spPr>
        <p:txBody>
          <a:bodyPr wrap="square" rtlCol="0" anchor="ctr"/>
          <a:lstStyle/>
          <a:p>
            <a:pPr algn="ctr" indent="0" marL="0">
              <a:buNone/>
            </a:pPr>
            <a:r>
              <a:rPr lang="en-US" sz="1000" dirty="0">
                <a:solidFill>
                  <a:srgbClr val="6366F1"/>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274320"/>
            <a:ext cx="137160" cy="731520"/>
          </a:xfrm>
          <a:prstGeom prst="rect">
            <a:avLst/>
          </a:prstGeom>
          <a:solidFill>
            <a:srgbClr val="4F46E5"/>
          </a:solidFill>
          <a:ln/>
        </p:spPr>
      </p:sp>
      <p:sp>
        <p:nvSpPr>
          <p:cNvPr id="3" name="Text 1"/>
          <p:cNvSpPr/>
          <p:nvPr/>
        </p:nvSpPr>
        <p:spPr>
          <a:xfrm>
            <a:off x="365760" y="320040"/>
            <a:ext cx="8229600" cy="640080"/>
          </a:xfrm>
          <a:prstGeom prst="rect">
            <a:avLst/>
          </a:prstGeom>
          <a:noFill/>
          <a:ln/>
        </p:spPr>
        <p:txBody>
          <a:bodyPr wrap="square" rtlCol="0" anchor="ctr"/>
          <a:lstStyle/>
          <a:p>
            <a:pPr indent="0" marL="0">
              <a:buNone/>
            </a:pPr>
            <a:r>
              <a:rPr lang="en-US" sz="2800" b="1" dirty="0">
                <a:solidFill>
                  <a:srgbClr val="312E81"/>
                </a:solidFill>
                <a:latin typeface="Arial" pitchFamily="34" charset="0"/>
                <a:ea typeface="Arial" pitchFamily="34" charset="-122"/>
                <a:cs typeface="Arial" pitchFamily="34" charset="-120"/>
              </a:rPr>
              <a:t>Dependencies and Security Model</a:t>
            </a:r>
            <a:endParaRPr lang="en-US" sz="2800" dirty="0"/>
          </a:p>
        </p:txBody>
      </p:sp>
      <p:sp>
        <p:nvSpPr>
          <p:cNvPr id="4" name="Shape 2"/>
          <p:cNvSpPr/>
          <p:nvPr/>
        </p:nvSpPr>
        <p:spPr>
          <a:xfrm>
            <a:off x="274320" y="1188720"/>
            <a:ext cx="4023360" cy="3200400"/>
          </a:xfrm>
          <a:prstGeom prst="roundRect">
            <a:avLst/>
          </a:prstGeom>
          <a:solidFill>
            <a:srgbClr val="FFFFFF"/>
          </a:solidFill>
          <a:ln/>
          <a:effectLst>
            <a:outerShdw sx="100000" sy="100000" kx="0" ky="0" algn="bl" rotWithShape="0" blurRad="101600" dist="25400" dir="2700000">
              <a:srgbClr val="000000">
                <a:alpha val="15000"/>
              </a:srgbClr>
            </a:outerShdw>
          </a:effectLst>
        </p:spPr>
      </p:sp>
      <p:sp>
        <p:nvSpPr>
          <p:cNvPr id="5" name="Text 3"/>
          <p:cNvSpPr/>
          <p:nvPr/>
        </p:nvSpPr>
        <p:spPr>
          <a:xfrm>
            <a:off x="457200" y="1371600"/>
            <a:ext cx="3657600" cy="2743200"/>
          </a:xfrm>
          <a:prstGeom prst="rect">
            <a:avLst/>
          </a:prstGeom>
          <a:noFill/>
          <a:ln/>
        </p:spPr>
        <p:txBody>
          <a:bodyPr wrap="square" rtlCol="0" anchor="t"/>
          <a:lstStyle/>
          <a:p>
            <a:pPr indent="0" marL="0">
              <a:spcAft>
                <a:spcPts val="1200"/>
              </a:spcAft>
              <a:buNone/>
            </a:pPr>
            <a:r>
              <a:rPr lang="en-US" sz="1600" dirty="0">
                <a:solidFill>
                  <a:srgbClr val="374151"/>
                </a:solidFill>
                <a:latin typeface="Arial" pitchFamily="34" charset="0"/>
                <a:ea typeface="Arial" pitchFamily="34" charset="-122"/>
                <a:cs typeface="Arial" pitchFamily="34" charset="-120"/>
              </a:rPr>
              <a:t>● Requires ready UAT and production environments
</a:t>
            </a:r>
            <a:pPr indent="0" marL="0">
              <a:spcAft>
                <a:spcPts val="1200"/>
              </a:spcAft>
              <a:buNone/>
            </a:pPr>
            <a:r>
              <a:rPr lang="en-US" sz="1600" dirty="0">
                <a:solidFill>
                  <a:srgbClr val="374151"/>
                </a:solidFill>
                <a:latin typeface="Arial" pitchFamily="34" charset="0"/>
                <a:ea typeface="Arial" pitchFamily="34" charset="-122"/>
                <a:cs typeface="Arial" pitchFamily="34" charset="-120"/>
              </a:rPr>
              <a:t>● Needs workflows, templates, consent and content finalized
</a:t>
            </a:r>
            <a:pPr indent="0" marL="0">
              <a:spcAft>
                <a:spcPts val="1200"/>
              </a:spcAft>
              <a:buNone/>
            </a:pPr>
            <a:r>
              <a:rPr lang="en-US" sz="1600" dirty="0">
                <a:solidFill>
                  <a:srgbClr val="374151"/>
                </a:solidFill>
                <a:latin typeface="Arial" pitchFamily="34" charset="0"/>
                <a:ea typeface="Arial" pitchFamily="34" charset="-122"/>
                <a:cs typeface="Arial" pitchFamily="34" charset="-120"/>
              </a:rPr>
              <a:t>● Third-party credentials for SMS, IVR, video, devices
</a:t>
            </a:r>
            <a:endParaRPr lang="en-US" sz="1600" dirty="0"/>
          </a:p>
        </p:txBody>
      </p:sp>
      <p:sp>
        <p:nvSpPr>
          <p:cNvPr id="6" name="Shape 4"/>
          <p:cNvSpPr/>
          <p:nvPr/>
        </p:nvSpPr>
        <p:spPr>
          <a:xfrm>
            <a:off x="4846320" y="1188720"/>
            <a:ext cx="4023360" cy="3200400"/>
          </a:xfrm>
          <a:prstGeom prst="roundRect">
            <a:avLst/>
          </a:prstGeom>
          <a:solidFill>
            <a:srgbClr val="FFFFFF"/>
          </a:solidFill>
          <a:ln/>
          <a:effectLst>
            <a:outerShdw sx="100000" sy="100000" kx="0" ky="0" algn="bl" rotWithShape="0" blurRad="101600" dist="25400" dir="2700000">
              <a:srgbClr val="000000">
                <a:alpha val="15000"/>
              </a:srgbClr>
            </a:outerShdw>
          </a:effectLst>
        </p:spPr>
      </p:sp>
      <p:sp>
        <p:nvSpPr>
          <p:cNvPr id="7" name="Text 5"/>
          <p:cNvSpPr/>
          <p:nvPr/>
        </p:nvSpPr>
        <p:spPr>
          <a:xfrm>
            <a:off x="5029200" y="1371600"/>
            <a:ext cx="3657600" cy="2743200"/>
          </a:xfrm>
          <a:prstGeom prst="rect">
            <a:avLst/>
          </a:prstGeom>
          <a:noFill/>
          <a:ln/>
        </p:spPr>
        <p:txBody>
          <a:bodyPr wrap="square" rtlCol="0" anchor="t"/>
          <a:lstStyle/>
          <a:p>
            <a:pPr indent="0" marL="0">
              <a:spcAft>
                <a:spcPts val="1200"/>
              </a:spcAft>
              <a:buNone/>
            </a:pPr>
            <a:r>
              <a:rPr lang="en-US" sz="1600" dirty="0">
                <a:solidFill>
                  <a:srgbClr val="374151"/>
                </a:solidFill>
                <a:latin typeface="Arial" pitchFamily="34" charset="0"/>
                <a:ea typeface="Arial" pitchFamily="34" charset="-122"/>
                <a:cs typeface="Arial" pitchFamily="34" charset="-120"/>
              </a:rPr>
              <a:t>● Role-based access for nurse, physician, patient, admin
</a:t>
            </a:r>
            <a:pPr indent="0" marL="0">
              <a:spcAft>
                <a:spcPts val="1200"/>
              </a:spcAft>
              <a:buNone/>
            </a:pPr>
            <a:r>
              <a:rPr lang="en-US" sz="1600" dirty="0">
                <a:solidFill>
                  <a:srgbClr val="374151"/>
                </a:solidFill>
                <a:latin typeface="Arial" pitchFamily="34" charset="0"/>
                <a:ea typeface="Arial" pitchFamily="34" charset="-122"/>
                <a:cs typeface="Arial" pitchFamily="34" charset="-120"/>
              </a:rPr>
              <a:t>● Comprehensive audit trails and monitoring dashboards
</a:t>
            </a:r>
            <a:endParaRPr lang="en-US" sz="1600" dirty="0"/>
          </a:p>
        </p:txBody>
      </p:sp>
      <p:sp>
        <p:nvSpPr>
          <p:cNvPr id="9" name="Text 6"/>
          <p:cNvSpPr/>
          <p:nvPr/>
        </p:nvSpPr>
        <p:spPr>
          <a:xfrm>
            <a:off x="8503920" y="4709160"/>
            <a:ext cx="365760" cy="228600"/>
          </a:xfrm>
          <a:prstGeom prst="rect">
            <a:avLst/>
          </a:prstGeom>
          <a:noFill/>
          <a:ln/>
        </p:spPr>
        <p:txBody>
          <a:bodyPr wrap="square" rtlCol="0" anchor="ctr"/>
          <a:lstStyle/>
          <a:p>
            <a:pPr algn="ctr" indent="0" marL="0">
              <a:buNone/>
            </a:pPr>
            <a:r>
              <a:rPr lang="en-US" sz="1000" dirty="0">
                <a:solidFill>
                  <a:srgbClr val="6366F1"/>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274320"/>
            <a:ext cx="137160" cy="731520"/>
          </a:xfrm>
          <a:prstGeom prst="rect">
            <a:avLst/>
          </a:prstGeom>
          <a:solidFill>
            <a:srgbClr val="4F46E5"/>
          </a:solidFill>
          <a:ln/>
        </p:spPr>
      </p:sp>
      <p:sp>
        <p:nvSpPr>
          <p:cNvPr id="3" name="Text 1"/>
          <p:cNvSpPr/>
          <p:nvPr/>
        </p:nvSpPr>
        <p:spPr>
          <a:xfrm>
            <a:off x="365760" y="320040"/>
            <a:ext cx="7315200" cy="640080"/>
          </a:xfrm>
          <a:prstGeom prst="rect">
            <a:avLst/>
          </a:prstGeom>
          <a:noFill/>
          <a:ln/>
        </p:spPr>
        <p:txBody>
          <a:bodyPr wrap="square" rtlCol="0" anchor="ctr"/>
          <a:lstStyle/>
          <a:p>
            <a:pPr indent="0" marL="0">
              <a:buNone/>
            </a:pPr>
            <a:r>
              <a:rPr lang="en-US" sz="2800" b="1" dirty="0">
                <a:solidFill>
                  <a:srgbClr val="312E81"/>
                </a:solidFill>
                <a:latin typeface="Arial" pitchFamily="34" charset="0"/>
                <a:ea typeface="Arial" pitchFamily="34" charset="-122"/>
                <a:cs typeface="Arial" pitchFamily="34" charset="-120"/>
              </a:rPr>
              <a:t>Governance, RACI, and Acceptance</a:t>
            </a:r>
            <a:endParaRPr lang="en-US" sz="2800" dirty="0"/>
          </a:p>
        </p:txBody>
      </p:sp>
      <p:sp>
        <p:nvSpPr>
          <p:cNvPr id="4" name="Shape 2"/>
          <p:cNvSpPr/>
          <p:nvPr/>
        </p:nvSpPr>
        <p:spPr>
          <a:xfrm>
            <a:off x="8046720" y="228600"/>
            <a:ext cx="640080" cy="640080"/>
          </a:xfrm>
          <a:prstGeom prst="ellipse">
            <a:avLst/>
          </a:prstGeom>
          <a:solidFill>
            <a:srgbClr val="6366F1">
              <a:alpha val="50000"/>
            </a:srgbClr>
          </a:solidFill>
          <a:ln/>
        </p:spPr>
      </p:sp>
      <p:sp>
        <p:nvSpPr>
          <p:cNvPr id="5" name="Shape 3"/>
          <p:cNvSpPr/>
          <p:nvPr/>
        </p:nvSpPr>
        <p:spPr>
          <a:xfrm>
            <a:off x="274320" y="1097280"/>
            <a:ext cx="8595360" cy="3291840"/>
          </a:xfrm>
          <a:prstGeom prst="roundRect">
            <a:avLst/>
          </a:prstGeom>
          <a:solidFill>
            <a:srgbClr val="FFFFFF"/>
          </a:solidFill>
          <a:ln/>
          <a:effectLst>
            <a:outerShdw sx="100000" sy="100000" kx="0" ky="0" algn="bl" rotWithShape="0" blurRad="127000" dist="38100" dir="2700000">
              <a:srgbClr val="000000">
                <a:alpha val="12000"/>
              </a:srgbClr>
            </a:outerShdw>
          </a:effectLst>
        </p:spPr>
      </p:sp>
      <p:sp>
        <p:nvSpPr>
          <p:cNvPr id="6" name="Text 4"/>
          <p:cNvSpPr/>
          <p:nvPr/>
        </p:nvSpPr>
        <p:spPr>
          <a:xfrm>
            <a:off x="548640" y="1280160"/>
            <a:ext cx="8046720" cy="2926080"/>
          </a:xfrm>
          <a:prstGeom prst="rect">
            <a:avLst/>
          </a:prstGeom>
          <a:noFill/>
          <a:ln/>
        </p:spPr>
        <p:txBody>
          <a:bodyPr wrap="square" rtlCol="0" anchor="t"/>
          <a:lstStyle/>
          <a:p>
            <a:pPr marL="342900" indent="-342900">
              <a:spcAft>
                <a:spcPts val="1600"/>
              </a:spcAft>
              <a:buSzPct val="100000"/>
              <a:buFont typeface="+mj-lt"/>
              <a:buAutoNum type="arabicPeriod" startAt="1"/>
            </a:pPr>
            <a:r>
              <a:rPr lang="en-US" sz="1800" dirty="0">
                <a:solidFill>
                  <a:srgbClr val="374151"/>
                </a:solidFill>
                <a:latin typeface="Arial" pitchFamily="34" charset="0"/>
                <a:ea typeface="Arial" pitchFamily="34" charset="-122"/>
                <a:cs typeface="Arial" pitchFamily="34" charset="-120"/>
              </a:rPr>
              <a:t>Defined roles: Client Owner, Service Provider, SMEs, UAT team
</a:t>
            </a:r>
            <a:endParaRPr lang="en-US" sz="1800" dirty="0"/>
          </a:p>
          <a:p>
            <a:pPr marL="342900" indent="-342900">
              <a:spcAft>
                <a:spcPts val="1600"/>
              </a:spcAft>
              <a:buSzPct val="100000"/>
              <a:buFont typeface="+mj-lt"/>
              <a:buAutoNum type="arabicPeriod" startAt="1"/>
            </a:pPr>
            <a:r>
              <a:rPr lang="en-US" sz="1800" dirty="0">
                <a:solidFill>
                  <a:srgbClr val="374151"/>
                </a:solidFill>
                <a:latin typeface="Arial" pitchFamily="34" charset="0"/>
                <a:ea typeface="Arial" pitchFamily="34" charset="-122"/>
                <a:cs typeface="Arial" pitchFamily="34" charset="-120"/>
              </a:rPr>
              <a:t>RACI clarifies responsibilities across workstreams
</a:t>
            </a:r>
            <a:endParaRPr lang="en-US" sz="1800" dirty="0"/>
          </a:p>
          <a:p>
            <a:pPr marL="342900" indent="-342900">
              <a:spcAft>
                <a:spcPts val="1600"/>
              </a:spcAft>
              <a:buSzPct val="100000"/>
              <a:buFont typeface="+mj-lt"/>
              <a:buAutoNum type="arabicPeriod" startAt="1"/>
            </a:pPr>
            <a:r>
              <a:rPr lang="en-US" sz="1800" dirty="0">
                <a:solidFill>
                  <a:srgbClr val="374151"/>
                </a:solidFill>
                <a:latin typeface="Arial" pitchFamily="34" charset="0"/>
                <a:ea typeface="Arial" pitchFamily="34" charset="-122"/>
                <a:cs typeface="Arial" pitchFamily="34" charset="-120"/>
              </a:rPr>
              <a:t>Weekly status, design workshops, UAT review sessions
</a:t>
            </a:r>
            <a:endParaRPr lang="en-US" sz="1800" dirty="0"/>
          </a:p>
          <a:p>
            <a:pPr marL="342900" indent="-342900">
              <a:spcAft>
                <a:spcPts val="1600"/>
              </a:spcAft>
              <a:buSzPct val="100000"/>
              <a:buFont typeface="+mj-lt"/>
              <a:buAutoNum type="arabicPeriod" startAt="1"/>
            </a:pPr>
            <a:r>
              <a:rPr lang="en-US" sz="1800" dirty="0">
                <a:solidFill>
                  <a:srgbClr val="374151"/>
                </a:solidFill>
                <a:latin typeface="Arial" pitchFamily="34" charset="0"/>
                <a:ea typeface="Arial" pitchFamily="34" charset="-122"/>
                <a:cs typeface="Arial" pitchFamily="34" charset="-120"/>
              </a:rPr>
              <a:t>Escalation path from Project Manager to Executive Sponsor
</a:t>
            </a:r>
            <a:endParaRPr lang="en-US" sz="1800" dirty="0"/>
          </a:p>
          <a:p>
            <a:pPr marL="342900" indent="-342900">
              <a:spcAft>
                <a:spcPts val="1600"/>
              </a:spcAft>
              <a:buSzPct val="100000"/>
              <a:buFont typeface="+mj-lt"/>
              <a:buAutoNum type="arabicPeriod" startAt="1"/>
            </a:pPr>
            <a:r>
              <a:rPr lang="en-US" sz="1800" dirty="0">
                <a:solidFill>
                  <a:srgbClr val="374151"/>
                </a:solidFill>
                <a:latin typeface="Arial" pitchFamily="34" charset="0"/>
                <a:ea typeface="Arial" pitchFamily="34" charset="-122"/>
                <a:cs typeface="Arial" pitchFamily="34" charset="-120"/>
              </a:rPr>
              <a:t>Milestone acceptance via demos, checks, live simulations
</a:t>
            </a:r>
            <a:endParaRPr lang="en-US" sz="1800" dirty="0"/>
          </a:p>
        </p:txBody>
      </p:sp>
      <p:sp>
        <p:nvSpPr>
          <p:cNvPr id="7" name="Shape 5"/>
          <p:cNvSpPr/>
          <p:nvPr/>
        </p:nvSpPr>
        <p:spPr>
          <a:xfrm>
            <a:off x="457200" y="4206240"/>
            <a:ext cx="8229600" cy="457200"/>
          </a:xfrm>
          <a:prstGeom prst="roundRect">
            <a:avLst/>
          </a:prstGeom>
          <a:solidFill>
            <a:srgbClr val="E0E7FF"/>
          </a:solidFill>
          <a:ln/>
        </p:spPr>
      </p:sp>
      <p:sp>
        <p:nvSpPr>
          <p:cNvPr id="8" name="Text 6"/>
          <p:cNvSpPr/>
          <p:nvPr/>
        </p:nvSpPr>
        <p:spPr>
          <a:xfrm>
            <a:off x="640080" y="4251960"/>
            <a:ext cx="7863840" cy="365760"/>
          </a:xfrm>
          <a:prstGeom prst="rect">
            <a:avLst/>
          </a:prstGeom>
          <a:noFill/>
          <a:ln/>
        </p:spPr>
        <p:txBody>
          <a:bodyPr wrap="square" rtlCol="0" anchor="ctr"/>
          <a:lstStyle/>
          <a:p>
            <a:pPr indent="0" marL="0">
              <a:buNone/>
            </a:pPr>
            <a:r>
              <a:rPr lang="en-US" sz="1200" b="1" dirty="0">
                <a:solidFill>
                  <a:srgbClr val="312E81"/>
                </a:solidFill>
                <a:latin typeface="Arial" pitchFamily="34" charset="0"/>
                <a:ea typeface="Arial" pitchFamily="34" charset="-122"/>
                <a:cs typeface="Arial" pitchFamily="34" charset="-120"/>
              </a:rPr>
              <a:t>💡 Structured governance with clear decision rights</a:t>
            </a:r>
            <a:endParaRPr lang="en-US" sz="1200" dirty="0"/>
          </a:p>
        </p:txBody>
      </p:sp>
      <p:sp>
        <p:nvSpPr>
          <p:cNvPr id="10" name="Text 7"/>
          <p:cNvSpPr/>
          <p:nvPr/>
        </p:nvSpPr>
        <p:spPr>
          <a:xfrm>
            <a:off x="8503920" y="4709160"/>
            <a:ext cx="365760" cy="228600"/>
          </a:xfrm>
          <a:prstGeom prst="rect">
            <a:avLst/>
          </a:prstGeom>
          <a:noFill/>
          <a:ln/>
        </p:spPr>
        <p:txBody>
          <a:bodyPr wrap="square" rtlCol="0" anchor="ctr"/>
          <a:lstStyle/>
          <a:p>
            <a:pPr algn="ctr" indent="0" marL="0">
              <a:buNone/>
            </a:pPr>
            <a:r>
              <a:rPr lang="en-US" sz="1000" dirty="0">
                <a:solidFill>
                  <a:srgbClr val="6366F1"/>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Deck — Health Intelligence Workspace</dc:title>
  <dc:subject>AI-Generated Professional Presentation</dc:subject>
  <dc:creator>HealthOS</dc:creator>
  <cp:lastModifiedBy>HealthOS</cp:lastModifiedBy>
  <cp:revision>1</cp:revision>
  <dcterms:created xsi:type="dcterms:W3CDTF">2026-03-12T09:30:58Z</dcterms:created>
  <dcterms:modified xsi:type="dcterms:W3CDTF">2026-03-12T09:30:58Z</dcterms:modified>
</cp:coreProperties>
</file>